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Oswald Medium"/>
      <p:regular r:id="rId29"/>
      <p:bold r:id="rId30"/>
    </p:embeddedFont>
    <p:embeddedFont>
      <p:font typeface="Roboto"/>
      <p:regular r:id="rId31"/>
      <p:bold r:id="rId32"/>
      <p:italic r:id="rId33"/>
      <p:boldItalic r:id="rId34"/>
    </p:embeddedFont>
    <p:embeddedFont>
      <p:font typeface="Montserrat"/>
      <p:regular r:id="rId35"/>
      <p:bold r:id="rId36"/>
      <p:italic r:id="rId37"/>
      <p:boldItalic r:id="rId38"/>
    </p:embeddedFont>
    <p:embeddedFont>
      <p:font typeface="Oswald"/>
      <p:regular r:id="rId39"/>
      <p:bold r:id="rId40"/>
    </p:embeddedFont>
    <p:embeddedFont>
      <p:font typeface="Itim"/>
      <p:regular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swald-bold.fntdata"/><Relationship Id="rId20" Type="http://schemas.openxmlformats.org/officeDocument/2006/relationships/slide" Target="slides/slide15.xml"/><Relationship Id="rId41" Type="http://schemas.openxmlformats.org/officeDocument/2006/relationships/font" Target="fonts/Itim-regular.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swaldMediu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regular.fntdata"/><Relationship Id="rId30" Type="http://schemas.openxmlformats.org/officeDocument/2006/relationships/font" Target="fonts/OswaldMedium-bold.fntdata"/><Relationship Id="rId11" Type="http://schemas.openxmlformats.org/officeDocument/2006/relationships/slide" Target="slides/slide6.xml"/><Relationship Id="rId33" Type="http://schemas.openxmlformats.org/officeDocument/2006/relationships/font" Target="fonts/Roboto-italic.fntdata"/><Relationship Id="rId10" Type="http://schemas.openxmlformats.org/officeDocument/2006/relationships/slide" Target="slides/slide5.xml"/><Relationship Id="rId32" Type="http://schemas.openxmlformats.org/officeDocument/2006/relationships/font" Target="fonts/Roboto-bold.fntdata"/><Relationship Id="rId13" Type="http://schemas.openxmlformats.org/officeDocument/2006/relationships/slide" Target="slides/slide8.xml"/><Relationship Id="rId35" Type="http://schemas.openxmlformats.org/officeDocument/2006/relationships/font" Target="fonts/Montserrat-regular.fntdata"/><Relationship Id="rId12" Type="http://schemas.openxmlformats.org/officeDocument/2006/relationships/slide" Target="slides/slide7.xml"/><Relationship Id="rId34" Type="http://schemas.openxmlformats.org/officeDocument/2006/relationships/font" Target="fonts/Roboto-boldItalic.fntdata"/><Relationship Id="rId15" Type="http://schemas.openxmlformats.org/officeDocument/2006/relationships/slide" Target="slides/slide10.xml"/><Relationship Id="rId37" Type="http://schemas.openxmlformats.org/officeDocument/2006/relationships/font" Target="fonts/Montserrat-italic.fntdata"/><Relationship Id="rId14" Type="http://schemas.openxmlformats.org/officeDocument/2006/relationships/slide" Target="slides/slide9.xml"/><Relationship Id="rId36" Type="http://schemas.openxmlformats.org/officeDocument/2006/relationships/font" Target="fonts/Montserrat-bold.fntdata"/><Relationship Id="rId17" Type="http://schemas.openxmlformats.org/officeDocument/2006/relationships/slide" Target="slides/slide12.xml"/><Relationship Id="rId39" Type="http://schemas.openxmlformats.org/officeDocument/2006/relationships/font" Target="fonts/Oswald-regular.fntdata"/><Relationship Id="rId16" Type="http://schemas.openxmlformats.org/officeDocument/2006/relationships/slide" Target="slides/slide11.xml"/><Relationship Id="rId38" Type="http://schemas.openxmlformats.org/officeDocument/2006/relationships/font" Target="fonts/Montserrat-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74cdbf44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74cdbf44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74cdbf4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474cdbf4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74cdbf44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474cdbf44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74cdbf44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474cdbf44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74cdbf44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474cdbf44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474cdbf44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474cdbf44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474cdbf44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474cdbf44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74cdbf44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474cdbf44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474cdbf44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474cdbf44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474cdbf44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474cdbf44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474cdbf44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474cdbf44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47e9b341f4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47e9b341f4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474cdbf44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474cdbf44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474cdbf44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474cdbf44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474cdbf44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474cdbf44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474cdbf44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474cdbf44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474cdbf44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474cdbf44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474cdbf448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474cdbf448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474cdbf448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474cdbf448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474cdbf448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474cdbf448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474cdbf44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474cdbf44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47e9b341f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47e9b341f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565897"/>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solidFill>
                  <a:srgbClr val="FF0000"/>
                </a:solidFill>
                <a:latin typeface="Oswald Medium"/>
                <a:ea typeface="Oswald Medium"/>
                <a:cs typeface="Oswald Medium"/>
                <a:sym typeface="Oswald Medium"/>
              </a:rPr>
              <a:t>Atelier de </a:t>
            </a:r>
            <a:r>
              <a:rPr lang="fr">
                <a:solidFill>
                  <a:srgbClr val="FF0000"/>
                </a:solidFill>
                <a:latin typeface="Oswald Medium"/>
                <a:ea typeface="Oswald Medium"/>
                <a:cs typeface="Oswald Medium"/>
                <a:sym typeface="Oswald Medium"/>
              </a:rPr>
              <a:t>professionnalisation</a:t>
            </a:r>
            <a:r>
              <a:rPr lang="fr">
                <a:solidFill>
                  <a:srgbClr val="FF0000"/>
                </a:solidFill>
                <a:latin typeface="Oswald Medium"/>
                <a:ea typeface="Oswald Medium"/>
                <a:cs typeface="Oswald Medium"/>
                <a:sym typeface="Oswald Medium"/>
              </a:rPr>
              <a:t> N°2</a:t>
            </a:r>
            <a:endParaRPr>
              <a:solidFill>
                <a:srgbClr val="FF0000"/>
              </a:solidFill>
              <a:latin typeface="Oswald Medium"/>
              <a:ea typeface="Oswald Medium"/>
              <a:cs typeface="Oswald Medium"/>
              <a:sym typeface="Oswald Medium"/>
            </a:endParaRPr>
          </a:p>
        </p:txBody>
      </p:sp>
      <p:sp>
        <p:nvSpPr>
          <p:cNvPr id="86" name="Google Shape;86;p13"/>
          <p:cNvSpPr txBox="1"/>
          <p:nvPr>
            <p:ph idx="1" type="subTitle"/>
          </p:nvPr>
        </p:nvSpPr>
        <p:spPr>
          <a:xfrm>
            <a:off x="598088" y="2560300"/>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fr">
                <a:latin typeface="Montserrat"/>
                <a:ea typeface="Montserrat"/>
                <a:cs typeface="Montserrat"/>
                <a:sym typeface="Montserrat"/>
              </a:rPr>
              <a:t>M2L - Maisons des ligues</a:t>
            </a:r>
            <a:endParaRPr>
              <a:latin typeface="Montserrat"/>
              <a:ea typeface="Montserrat"/>
              <a:cs typeface="Montserrat"/>
              <a:sym typeface="Montserrat"/>
            </a:endParaRPr>
          </a:p>
        </p:txBody>
      </p:sp>
      <p:pic>
        <p:nvPicPr>
          <p:cNvPr id="87" name="Google Shape;87;p13" title="images.png"/>
          <p:cNvPicPr preferRelativeResize="0"/>
          <p:nvPr/>
        </p:nvPicPr>
        <p:blipFill>
          <a:blip r:embed="rId3">
            <a:alphaModFix/>
          </a:blip>
          <a:stretch>
            <a:fillRect/>
          </a:stretch>
        </p:blipFill>
        <p:spPr>
          <a:xfrm>
            <a:off x="3437550" y="3148825"/>
            <a:ext cx="2543175" cy="1733550"/>
          </a:xfrm>
          <a:prstGeom prst="rect">
            <a:avLst/>
          </a:prstGeom>
          <a:noFill/>
          <a:ln>
            <a:noFill/>
          </a:ln>
        </p:spPr>
      </p:pic>
      <p:sp>
        <p:nvSpPr>
          <p:cNvPr id="88" name="Google Shape;88;p13"/>
          <p:cNvSpPr txBox="1"/>
          <p:nvPr/>
        </p:nvSpPr>
        <p:spPr>
          <a:xfrm>
            <a:off x="0" y="60050"/>
            <a:ext cx="9144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300">
                <a:solidFill>
                  <a:schemeClr val="lt1"/>
                </a:solidFill>
                <a:latin typeface="Itim"/>
                <a:ea typeface="Itim"/>
                <a:cs typeface="Itim"/>
                <a:sym typeface="Itim"/>
              </a:rPr>
              <a:t>Ali H. - Sasha H. - Mehdi A.														Groupe 4</a:t>
            </a:r>
            <a:endParaRPr sz="1300">
              <a:solidFill>
                <a:schemeClr val="lt1"/>
              </a:solidFill>
              <a:latin typeface="Itim"/>
              <a:ea typeface="Itim"/>
              <a:cs typeface="Itim"/>
              <a:sym typeface="Itim"/>
            </a:endParaRPr>
          </a:p>
        </p:txBody>
      </p:sp>
      <p:sp>
        <p:nvSpPr>
          <p:cNvPr id="89" name="Google Shape;89;p1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Contexte</a:t>
            </a:r>
            <a:endParaRPr b="1">
              <a:latin typeface="Montserrat"/>
              <a:ea typeface="Montserrat"/>
              <a:cs typeface="Montserrat"/>
              <a:sym typeface="Montserrat"/>
            </a:endParaRPr>
          </a:p>
        </p:txBody>
      </p:sp>
      <p:sp>
        <p:nvSpPr>
          <p:cNvPr id="95" name="Google Shape;95;p1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ctr">
              <a:lnSpc>
                <a:spcPct val="95000"/>
              </a:lnSpc>
              <a:spcBef>
                <a:spcPts val="800"/>
              </a:spcBef>
              <a:spcAft>
                <a:spcPts val="0"/>
              </a:spcAft>
              <a:buNone/>
            </a:pPr>
            <a:r>
              <a:t/>
            </a:r>
            <a:endParaRPr sz="2200">
              <a:solidFill>
                <a:schemeClr val="dk1"/>
              </a:solidFill>
              <a:latin typeface="Calibri"/>
              <a:ea typeface="Calibri"/>
              <a:cs typeface="Calibri"/>
              <a:sym typeface="Calibri"/>
            </a:endParaRPr>
          </a:p>
          <a:p>
            <a:pPr indent="0" lvl="0" marL="0" rtl="0" algn="ctr">
              <a:lnSpc>
                <a:spcPct val="95000"/>
              </a:lnSpc>
              <a:spcBef>
                <a:spcPts val="800"/>
              </a:spcBef>
              <a:spcAft>
                <a:spcPts val="0"/>
              </a:spcAft>
              <a:buNone/>
            </a:pPr>
            <a:r>
              <a:rPr lang="fr" sz="2200">
                <a:solidFill>
                  <a:schemeClr val="dk1"/>
                </a:solidFill>
                <a:latin typeface="Calibri"/>
                <a:ea typeface="Calibri"/>
                <a:cs typeface="Calibri"/>
                <a:sym typeface="Calibri"/>
              </a:rPr>
              <a:t>La </a:t>
            </a:r>
            <a:r>
              <a:rPr b="1" lang="fr" sz="2200">
                <a:solidFill>
                  <a:schemeClr val="dk1"/>
                </a:solidFill>
                <a:latin typeface="Calibri"/>
                <a:ea typeface="Calibri"/>
                <a:cs typeface="Calibri"/>
                <a:sym typeface="Calibri"/>
              </a:rPr>
              <a:t>Maison des Ligues</a:t>
            </a:r>
            <a:r>
              <a:rPr lang="fr" sz="2200">
                <a:solidFill>
                  <a:schemeClr val="dk1"/>
                </a:solidFill>
                <a:latin typeface="Calibri"/>
                <a:ea typeface="Calibri"/>
                <a:cs typeface="Calibri"/>
                <a:sym typeface="Calibri"/>
              </a:rPr>
              <a:t> (M2L) héberge plusieurs organisations sportives partageant un réseau informatique commun. </a:t>
            </a:r>
            <a:endParaRPr sz="2200">
              <a:solidFill>
                <a:schemeClr val="dk1"/>
              </a:solidFill>
              <a:latin typeface="Calibri"/>
              <a:ea typeface="Calibri"/>
              <a:cs typeface="Calibri"/>
              <a:sym typeface="Calibri"/>
            </a:endParaRPr>
          </a:p>
          <a:p>
            <a:pPr indent="0" lvl="0" marL="0" rtl="0" algn="ctr">
              <a:lnSpc>
                <a:spcPct val="95000"/>
              </a:lnSpc>
              <a:spcBef>
                <a:spcPts val="800"/>
              </a:spcBef>
              <a:spcAft>
                <a:spcPts val="0"/>
              </a:spcAft>
              <a:buNone/>
            </a:pPr>
            <a:r>
              <a:t/>
            </a:r>
            <a:endParaRPr sz="2200">
              <a:solidFill>
                <a:schemeClr val="dk1"/>
              </a:solidFill>
              <a:latin typeface="Calibri"/>
              <a:ea typeface="Calibri"/>
              <a:cs typeface="Calibri"/>
              <a:sym typeface="Calibri"/>
            </a:endParaRPr>
          </a:p>
          <a:p>
            <a:pPr indent="0" lvl="0" marL="0" rtl="0" algn="ctr">
              <a:lnSpc>
                <a:spcPct val="95000"/>
              </a:lnSpc>
              <a:spcBef>
                <a:spcPts val="800"/>
              </a:spcBef>
              <a:spcAft>
                <a:spcPts val="0"/>
              </a:spcAft>
              <a:buClr>
                <a:schemeClr val="dk1"/>
              </a:buClr>
              <a:buSzPts val="1100"/>
              <a:buFont typeface="Arial"/>
              <a:buNone/>
            </a:pPr>
            <a:r>
              <a:rPr lang="fr" sz="2200">
                <a:solidFill>
                  <a:schemeClr val="dk1"/>
                </a:solidFill>
                <a:latin typeface="Calibri"/>
                <a:ea typeface="Calibri"/>
                <a:cs typeface="Calibri"/>
                <a:sym typeface="Calibri"/>
              </a:rPr>
              <a:t>L'</a:t>
            </a:r>
            <a:r>
              <a:rPr b="1" lang="fr" sz="2200">
                <a:solidFill>
                  <a:schemeClr val="dk1"/>
                </a:solidFill>
                <a:latin typeface="Calibri"/>
                <a:ea typeface="Calibri"/>
                <a:cs typeface="Calibri"/>
                <a:sym typeface="Calibri"/>
              </a:rPr>
              <a:t>objectif</a:t>
            </a:r>
            <a:r>
              <a:rPr lang="fr" sz="2200">
                <a:solidFill>
                  <a:schemeClr val="dk1"/>
                </a:solidFill>
                <a:latin typeface="Calibri"/>
                <a:ea typeface="Calibri"/>
                <a:cs typeface="Calibri"/>
                <a:sym typeface="Calibri"/>
              </a:rPr>
              <a:t> des missions est d'améliorer la gestion et la sécurité des connexions réseau pour les utilisateurs et les événements.</a:t>
            </a:r>
            <a:endParaRPr sz="2200">
              <a:solidFill>
                <a:schemeClr val="dk1"/>
              </a:solidFill>
              <a:latin typeface="Calibri"/>
              <a:ea typeface="Calibri"/>
              <a:cs typeface="Calibri"/>
              <a:sym typeface="Calibri"/>
            </a:endParaRPr>
          </a:p>
          <a:p>
            <a:pPr indent="0" lvl="0" marL="0" rtl="0" algn="l">
              <a:lnSpc>
                <a:spcPct val="95000"/>
              </a:lnSpc>
              <a:spcBef>
                <a:spcPts val="0"/>
              </a:spcBef>
              <a:spcAft>
                <a:spcPts val="1200"/>
              </a:spcAft>
              <a:buNone/>
            </a:pPr>
            <a:r>
              <a:t/>
            </a:r>
            <a:endParaRPr>
              <a:latin typeface="Calibri"/>
              <a:ea typeface="Calibri"/>
              <a:cs typeface="Calibri"/>
              <a:sym typeface="Calibri"/>
            </a:endParaRPr>
          </a:p>
        </p:txBody>
      </p:sp>
      <p:sp>
        <p:nvSpPr>
          <p:cNvPr id="96" name="Google Shape;96;p1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66750" y="321000"/>
            <a:ext cx="5318400" cy="2539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fr">
                <a:latin typeface="Montserrat"/>
                <a:ea typeface="Montserrat"/>
                <a:cs typeface="Montserrat"/>
                <a:sym typeface="Montserrat"/>
              </a:rPr>
              <a:t>Sommaire</a:t>
            </a:r>
            <a:endParaRPr b="1">
              <a:latin typeface="Montserrat"/>
              <a:ea typeface="Montserrat"/>
              <a:cs typeface="Montserrat"/>
              <a:sym typeface="Montserrat"/>
            </a:endParaRPr>
          </a:p>
        </p:txBody>
      </p:sp>
      <p:sp>
        <p:nvSpPr>
          <p:cNvPr id="102" name="Google Shape;102;p1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103" name="Google Shape;103;p15"/>
          <p:cNvSpPr txBox="1"/>
          <p:nvPr/>
        </p:nvSpPr>
        <p:spPr>
          <a:xfrm>
            <a:off x="5417200" y="823000"/>
            <a:ext cx="3811500" cy="2214000"/>
          </a:xfrm>
          <a:prstGeom prst="rect">
            <a:avLst/>
          </a:prstGeom>
          <a:noFill/>
          <a:ln>
            <a:noFill/>
          </a:ln>
        </p:spPr>
        <p:txBody>
          <a:bodyPr anchorCtr="0" anchor="t" bIns="91425" lIns="91425" spcFirstLastPara="1" rIns="91425" wrap="square" tIns="91425">
            <a:spAutoFit/>
          </a:bodyPr>
          <a:lstStyle/>
          <a:p>
            <a:pPr indent="-338748" lvl="0" marL="457200" rtl="0" algn="l">
              <a:lnSpc>
                <a:spcPct val="95000"/>
              </a:lnSpc>
              <a:spcBef>
                <a:spcPts val="0"/>
              </a:spcBef>
              <a:spcAft>
                <a:spcPts val="0"/>
              </a:spcAft>
              <a:buClr>
                <a:schemeClr val="lt1"/>
              </a:buClr>
              <a:buSzPts val="1735"/>
              <a:buFont typeface="Calibri"/>
              <a:buChar char="-"/>
            </a:pPr>
            <a:r>
              <a:rPr lang="fr" sz="1735">
                <a:solidFill>
                  <a:schemeClr val="lt1"/>
                </a:solidFill>
                <a:latin typeface="Calibri"/>
                <a:ea typeface="Calibri"/>
                <a:cs typeface="Calibri"/>
                <a:sym typeface="Calibri"/>
              </a:rPr>
              <a:t>Les missions</a:t>
            </a:r>
            <a:endParaRPr sz="1735">
              <a:solidFill>
                <a:schemeClr val="lt1"/>
              </a:solidFill>
              <a:latin typeface="Calibri"/>
              <a:ea typeface="Calibri"/>
              <a:cs typeface="Calibri"/>
              <a:sym typeface="Calibri"/>
            </a:endParaRPr>
          </a:p>
          <a:p>
            <a:pPr indent="-338748" lvl="0" marL="457200" rtl="0" algn="l">
              <a:lnSpc>
                <a:spcPct val="95000"/>
              </a:lnSpc>
              <a:spcBef>
                <a:spcPts val="0"/>
              </a:spcBef>
              <a:spcAft>
                <a:spcPts val="0"/>
              </a:spcAft>
              <a:buClr>
                <a:schemeClr val="lt1"/>
              </a:buClr>
              <a:buSzPts val="1735"/>
              <a:buFont typeface="Calibri"/>
              <a:buChar char="-"/>
            </a:pPr>
            <a:r>
              <a:rPr lang="fr" sz="1735">
                <a:solidFill>
                  <a:schemeClr val="lt1"/>
                </a:solidFill>
                <a:latin typeface="Calibri"/>
                <a:ea typeface="Calibri"/>
                <a:cs typeface="Calibri"/>
                <a:sym typeface="Calibri"/>
              </a:rPr>
              <a:t>Objectifs</a:t>
            </a:r>
            <a:endParaRPr sz="1735">
              <a:solidFill>
                <a:schemeClr val="lt1"/>
              </a:solidFill>
              <a:latin typeface="Calibri"/>
              <a:ea typeface="Calibri"/>
              <a:cs typeface="Calibri"/>
              <a:sym typeface="Calibri"/>
            </a:endParaRPr>
          </a:p>
          <a:p>
            <a:pPr indent="-338748" lvl="0" marL="457200" rtl="0" algn="l">
              <a:lnSpc>
                <a:spcPct val="95000"/>
              </a:lnSpc>
              <a:spcBef>
                <a:spcPts val="0"/>
              </a:spcBef>
              <a:spcAft>
                <a:spcPts val="0"/>
              </a:spcAft>
              <a:buClr>
                <a:schemeClr val="lt1"/>
              </a:buClr>
              <a:buSzPts val="1735"/>
              <a:buFont typeface="Calibri"/>
              <a:buChar char="-"/>
            </a:pPr>
            <a:r>
              <a:rPr lang="fr" sz="1735">
                <a:solidFill>
                  <a:schemeClr val="lt1"/>
                </a:solidFill>
                <a:latin typeface="Calibri"/>
                <a:ea typeface="Calibri"/>
                <a:cs typeface="Calibri"/>
                <a:sym typeface="Calibri"/>
              </a:rPr>
              <a:t>Solutions </a:t>
            </a:r>
            <a:endParaRPr sz="1735">
              <a:solidFill>
                <a:schemeClr val="lt1"/>
              </a:solidFill>
              <a:latin typeface="Calibri"/>
              <a:ea typeface="Calibri"/>
              <a:cs typeface="Calibri"/>
              <a:sym typeface="Calibri"/>
            </a:endParaRPr>
          </a:p>
          <a:p>
            <a:pPr indent="-338748" lvl="0" marL="457200" rtl="0" algn="l">
              <a:lnSpc>
                <a:spcPct val="95000"/>
              </a:lnSpc>
              <a:spcBef>
                <a:spcPts val="0"/>
              </a:spcBef>
              <a:spcAft>
                <a:spcPts val="0"/>
              </a:spcAft>
              <a:buClr>
                <a:schemeClr val="lt1"/>
              </a:buClr>
              <a:buSzPts val="1735"/>
              <a:buFont typeface="Calibri"/>
              <a:buChar char="-"/>
            </a:pPr>
            <a:r>
              <a:rPr lang="fr" sz="1735">
                <a:solidFill>
                  <a:schemeClr val="lt1"/>
                </a:solidFill>
                <a:latin typeface="Calibri"/>
                <a:ea typeface="Calibri"/>
                <a:cs typeface="Calibri"/>
                <a:sym typeface="Calibri"/>
              </a:rPr>
              <a:t>Comparatif des solutions et choix</a:t>
            </a:r>
            <a:endParaRPr sz="1735">
              <a:solidFill>
                <a:schemeClr val="lt1"/>
              </a:solidFill>
              <a:latin typeface="Calibri"/>
              <a:ea typeface="Calibri"/>
              <a:cs typeface="Calibri"/>
              <a:sym typeface="Calibri"/>
            </a:endParaRPr>
          </a:p>
          <a:p>
            <a:pPr indent="-338748" lvl="0" marL="457200" rtl="0" algn="l">
              <a:lnSpc>
                <a:spcPct val="95000"/>
              </a:lnSpc>
              <a:spcBef>
                <a:spcPts val="0"/>
              </a:spcBef>
              <a:spcAft>
                <a:spcPts val="0"/>
              </a:spcAft>
              <a:buClr>
                <a:schemeClr val="lt1"/>
              </a:buClr>
              <a:buSzPts val="1735"/>
              <a:buFont typeface="Calibri"/>
              <a:buChar char="-"/>
            </a:pPr>
            <a:r>
              <a:rPr lang="fr" sz="1735">
                <a:solidFill>
                  <a:schemeClr val="lt1"/>
                </a:solidFill>
                <a:latin typeface="Calibri"/>
                <a:ea typeface="Calibri"/>
                <a:cs typeface="Calibri"/>
                <a:sym typeface="Calibri"/>
              </a:rPr>
              <a:t>Architecture réseau</a:t>
            </a:r>
            <a:endParaRPr sz="1735">
              <a:solidFill>
                <a:schemeClr val="lt1"/>
              </a:solidFill>
              <a:latin typeface="Calibri"/>
              <a:ea typeface="Calibri"/>
              <a:cs typeface="Calibri"/>
              <a:sym typeface="Calibri"/>
            </a:endParaRPr>
          </a:p>
          <a:p>
            <a:pPr indent="-338748" lvl="0" marL="457200" rtl="0" algn="l">
              <a:lnSpc>
                <a:spcPct val="95000"/>
              </a:lnSpc>
              <a:spcBef>
                <a:spcPts val="0"/>
              </a:spcBef>
              <a:spcAft>
                <a:spcPts val="0"/>
              </a:spcAft>
              <a:buClr>
                <a:schemeClr val="lt1"/>
              </a:buClr>
              <a:buSzPts val="1735"/>
              <a:buFont typeface="Calibri"/>
              <a:buChar char="-"/>
            </a:pPr>
            <a:r>
              <a:rPr lang="fr" sz="1735">
                <a:solidFill>
                  <a:schemeClr val="lt1"/>
                </a:solidFill>
                <a:latin typeface="Calibri"/>
                <a:ea typeface="Calibri"/>
                <a:cs typeface="Calibri"/>
                <a:sym typeface="Calibri"/>
              </a:rPr>
              <a:t>Annexe</a:t>
            </a:r>
            <a:endParaRPr sz="1735">
              <a:solidFill>
                <a:schemeClr val="lt1"/>
              </a:solidFill>
              <a:latin typeface="Calibri"/>
              <a:ea typeface="Calibri"/>
              <a:cs typeface="Calibri"/>
              <a:sym typeface="Calibri"/>
            </a:endParaRPr>
          </a:p>
          <a:p>
            <a:pPr indent="-338748" lvl="0" marL="457200" rtl="0" algn="l">
              <a:lnSpc>
                <a:spcPct val="95000"/>
              </a:lnSpc>
              <a:spcBef>
                <a:spcPts val="0"/>
              </a:spcBef>
              <a:spcAft>
                <a:spcPts val="0"/>
              </a:spcAft>
              <a:buClr>
                <a:schemeClr val="lt1"/>
              </a:buClr>
              <a:buSzPts val="1735"/>
              <a:buFont typeface="Calibri"/>
              <a:buChar char="-"/>
            </a:pPr>
            <a:r>
              <a:rPr lang="fr" sz="1735">
                <a:solidFill>
                  <a:schemeClr val="lt1"/>
                </a:solidFill>
                <a:latin typeface="Calibri"/>
                <a:ea typeface="Calibri"/>
                <a:cs typeface="Calibri"/>
                <a:sym typeface="Calibri"/>
              </a:rPr>
              <a:t>Technologies utilisées</a:t>
            </a:r>
            <a:endParaRPr sz="1735">
              <a:solidFill>
                <a:schemeClr val="lt1"/>
              </a:solidFill>
              <a:latin typeface="Calibri"/>
              <a:ea typeface="Calibri"/>
              <a:cs typeface="Calibri"/>
              <a:sym typeface="Calibri"/>
            </a:endParaRPr>
          </a:p>
          <a:p>
            <a:pPr indent="-338748" lvl="0" marL="457200" rtl="0" algn="l">
              <a:lnSpc>
                <a:spcPct val="95000"/>
              </a:lnSpc>
              <a:spcBef>
                <a:spcPts val="0"/>
              </a:spcBef>
              <a:spcAft>
                <a:spcPts val="0"/>
              </a:spcAft>
              <a:buClr>
                <a:schemeClr val="lt1"/>
              </a:buClr>
              <a:buSzPts val="1735"/>
              <a:buFont typeface="Calibri"/>
              <a:buChar char="-"/>
            </a:pPr>
            <a:r>
              <a:rPr lang="fr" sz="1735">
                <a:solidFill>
                  <a:schemeClr val="lt1"/>
                </a:solidFill>
                <a:latin typeface="Calibri"/>
                <a:ea typeface="Calibri"/>
                <a:cs typeface="Calibri"/>
                <a:sym typeface="Calibri"/>
              </a:rPr>
              <a:t>Services impliqués</a:t>
            </a:r>
            <a:endParaRPr sz="1800">
              <a:solidFill>
                <a:schemeClr val="lt1"/>
              </a:solidFill>
              <a:latin typeface="Roboto"/>
              <a:ea typeface="Roboto"/>
              <a:cs typeface="Roboto"/>
              <a:sym typeface="Roboto"/>
            </a:endParaRPr>
          </a:p>
        </p:txBody>
      </p:sp>
      <p:sp>
        <p:nvSpPr>
          <p:cNvPr id="104" name="Google Shape;104;p15"/>
          <p:cNvSpPr txBox="1"/>
          <p:nvPr/>
        </p:nvSpPr>
        <p:spPr>
          <a:xfrm>
            <a:off x="1400775" y="2860500"/>
            <a:ext cx="4435200" cy="1790700"/>
          </a:xfrm>
          <a:prstGeom prst="rect">
            <a:avLst/>
          </a:prstGeom>
          <a:noFill/>
          <a:ln>
            <a:noFill/>
          </a:ln>
        </p:spPr>
        <p:txBody>
          <a:bodyPr anchorCtr="0" anchor="t" bIns="91425" lIns="91425" spcFirstLastPara="1" rIns="91425" wrap="square" tIns="91425">
            <a:spAutoFit/>
          </a:bodyPr>
          <a:lstStyle/>
          <a:p>
            <a:pPr indent="0" lvl="0" marL="457200" rtl="0" algn="r">
              <a:spcBef>
                <a:spcPts val="0"/>
              </a:spcBef>
              <a:spcAft>
                <a:spcPts val="0"/>
              </a:spcAft>
              <a:buClr>
                <a:srgbClr val="000000"/>
              </a:buClr>
              <a:buSzPts val="523"/>
              <a:buFont typeface="Arial"/>
              <a:buNone/>
            </a:pPr>
            <a:r>
              <a:rPr lang="fr" sz="1739">
                <a:solidFill>
                  <a:schemeClr val="lt1"/>
                </a:solidFill>
                <a:latin typeface="Calibri"/>
                <a:ea typeface="Calibri"/>
                <a:cs typeface="Calibri"/>
                <a:sym typeface="Calibri"/>
              </a:rPr>
              <a:t>Sécurité -</a:t>
            </a:r>
            <a:endParaRPr sz="1739">
              <a:solidFill>
                <a:schemeClr val="lt1"/>
              </a:solidFill>
              <a:latin typeface="Calibri"/>
              <a:ea typeface="Calibri"/>
              <a:cs typeface="Calibri"/>
              <a:sym typeface="Calibri"/>
            </a:endParaRPr>
          </a:p>
          <a:p>
            <a:pPr indent="0" lvl="0" marL="457200" rtl="0" algn="r">
              <a:spcBef>
                <a:spcPts val="0"/>
              </a:spcBef>
              <a:spcAft>
                <a:spcPts val="0"/>
              </a:spcAft>
              <a:buClr>
                <a:srgbClr val="000000"/>
              </a:buClr>
              <a:buSzPts val="523"/>
              <a:buFont typeface="Arial"/>
              <a:buNone/>
            </a:pPr>
            <a:r>
              <a:rPr lang="fr" sz="1739">
                <a:solidFill>
                  <a:schemeClr val="lt1"/>
                </a:solidFill>
                <a:latin typeface="Calibri"/>
                <a:ea typeface="Calibri"/>
                <a:cs typeface="Calibri"/>
                <a:sym typeface="Calibri"/>
              </a:rPr>
              <a:t>   Estimations -</a:t>
            </a:r>
            <a:endParaRPr sz="1739">
              <a:solidFill>
                <a:schemeClr val="lt1"/>
              </a:solidFill>
              <a:latin typeface="Calibri"/>
              <a:ea typeface="Calibri"/>
              <a:cs typeface="Calibri"/>
              <a:sym typeface="Calibri"/>
            </a:endParaRPr>
          </a:p>
          <a:p>
            <a:pPr indent="0" lvl="0" marL="457200" rtl="0" algn="r">
              <a:spcBef>
                <a:spcPts val="0"/>
              </a:spcBef>
              <a:spcAft>
                <a:spcPts val="0"/>
              </a:spcAft>
              <a:buClr>
                <a:srgbClr val="000000"/>
              </a:buClr>
              <a:buSzPts val="523"/>
              <a:buFont typeface="Arial"/>
              <a:buNone/>
            </a:pPr>
            <a:r>
              <a:rPr lang="fr" sz="1739">
                <a:solidFill>
                  <a:schemeClr val="lt1"/>
                </a:solidFill>
                <a:latin typeface="Calibri"/>
                <a:ea typeface="Calibri"/>
                <a:cs typeface="Calibri"/>
                <a:sym typeface="Calibri"/>
              </a:rPr>
              <a:t>    Répartition des tâches -</a:t>
            </a:r>
            <a:endParaRPr sz="1739">
              <a:solidFill>
                <a:schemeClr val="lt1"/>
              </a:solidFill>
              <a:latin typeface="Calibri"/>
              <a:ea typeface="Calibri"/>
              <a:cs typeface="Calibri"/>
              <a:sym typeface="Calibri"/>
            </a:endParaRPr>
          </a:p>
          <a:p>
            <a:pPr indent="0" lvl="0" marL="457200" rtl="0" algn="r">
              <a:spcBef>
                <a:spcPts val="0"/>
              </a:spcBef>
              <a:spcAft>
                <a:spcPts val="0"/>
              </a:spcAft>
              <a:buClr>
                <a:srgbClr val="000000"/>
              </a:buClr>
              <a:buSzPts val="523"/>
              <a:buFont typeface="Arial"/>
              <a:buNone/>
            </a:pPr>
            <a:r>
              <a:rPr lang="fr" sz="1739">
                <a:solidFill>
                  <a:schemeClr val="lt1"/>
                </a:solidFill>
                <a:latin typeface="Calibri"/>
                <a:ea typeface="Calibri"/>
                <a:cs typeface="Calibri"/>
                <a:sym typeface="Calibri"/>
              </a:rPr>
              <a:t>   Compétences utilisées -</a:t>
            </a:r>
            <a:endParaRPr sz="1739">
              <a:solidFill>
                <a:schemeClr val="lt1"/>
              </a:solidFill>
              <a:latin typeface="Calibri"/>
              <a:ea typeface="Calibri"/>
              <a:cs typeface="Calibri"/>
              <a:sym typeface="Calibri"/>
            </a:endParaRPr>
          </a:p>
          <a:p>
            <a:pPr indent="0" lvl="0" marL="457200" rtl="0" algn="r">
              <a:spcBef>
                <a:spcPts val="0"/>
              </a:spcBef>
              <a:spcAft>
                <a:spcPts val="0"/>
              </a:spcAft>
              <a:buClr>
                <a:srgbClr val="000000"/>
              </a:buClr>
              <a:buSzPts val="523"/>
              <a:buFont typeface="Arial"/>
              <a:buNone/>
            </a:pPr>
            <a:r>
              <a:rPr lang="fr" sz="1739">
                <a:solidFill>
                  <a:schemeClr val="lt1"/>
                </a:solidFill>
                <a:latin typeface="Calibri"/>
                <a:ea typeface="Calibri"/>
                <a:cs typeface="Calibri"/>
                <a:sym typeface="Calibri"/>
              </a:rPr>
              <a:t> Améliorations possibles -</a:t>
            </a:r>
            <a:endParaRPr sz="1739">
              <a:solidFill>
                <a:schemeClr val="lt1"/>
              </a:solidFill>
              <a:latin typeface="Calibri"/>
              <a:ea typeface="Calibri"/>
              <a:cs typeface="Calibri"/>
              <a:sym typeface="Calibri"/>
            </a:endParaRPr>
          </a:p>
          <a:p>
            <a:pPr indent="0" lvl="0" marL="457200" rtl="0" algn="r">
              <a:spcBef>
                <a:spcPts val="0"/>
              </a:spcBef>
              <a:spcAft>
                <a:spcPts val="0"/>
              </a:spcAft>
              <a:buNone/>
            </a:pPr>
            <a:r>
              <a:rPr lang="fr" sz="1739">
                <a:solidFill>
                  <a:schemeClr val="lt1"/>
                </a:solidFill>
                <a:latin typeface="Calibri"/>
                <a:ea typeface="Calibri"/>
                <a:cs typeface="Calibri"/>
                <a:sym typeface="Calibri"/>
              </a:rPr>
              <a:t>                               Bilan -</a:t>
            </a:r>
            <a:endParaRPr sz="1800">
              <a:solidFill>
                <a:schemeClr val="l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Les missions</a:t>
            </a:r>
            <a:endParaRPr b="1">
              <a:latin typeface="Montserrat"/>
              <a:ea typeface="Montserrat"/>
              <a:cs typeface="Montserrat"/>
              <a:sym typeface="Montserrat"/>
            </a:endParaRPr>
          </a:p>
        </p:txBody>
      </p:sp>
      <p:sp>
        <p:nvSpPr>
          <p:cNvPr id="110" name="Google Shape;110;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457200" rtl="0" algn="ctr">
              <a:spcBef>
                <a:spcPts val="600"/>
              </a:spcBef>
              <a:spcAft>
                <a:spcPts val="0"/>
              </a:spcAft>
              <a:buNone/>
            </a:pPr>
            <a:r>
              <a:t/>
            </a:r>
            <a:endParaRPr sz="2700">
              <a:solidFill>
                <a:schemeClr val="dk1"/>
              </a:solidFill>
              <a:latin typeface="Oswald"/>
              <a:ea typeface="Oswald"/>
              <a:cs typeface="Oswald"/>
              <a:sym typeface="Oswald"/>
            </a:endParaRPr>
          </a:p>
          <a:p>
            <a:pPr indent="-311150" lvl="0" marL="457200" rtl="0" algn="ctr">
              <a:spcBef>
                <a:spcPts val="600"/>
              </a:spcBef>
              <a:spcAft>
                <a:spcPts val="0"/>
              </a:spcAft>
              <a:buClr>
                <a:schemeClr val="dk1"/>
              </a:buClr>
              <a:buSzPts val="1300"/>
              <a:buChar char="●"/>
            </a:pPr>
            <a:r>
              <a:rPr b="1" lang="fr" sz="2200">
                <a:solidFill>
                  <a:schemeClr val="dk1"/>
                </a:solidFill>
                <a:latin typeface="Oswald"/>
                <a:ea typeface="Oswald"/>
                <a:cs typeface="Oswald"/>
                <a:sym typeface="Oswald"/>
              </a:rPr>
              <a:t>Mission 1: Projet DYLAN</a:t>
            </a:r>
            <a:r>
              <a:rPr lang="fr" sz="2200">
                <a:solidFill>
                  <a:schemeClr val="dk1"/>
                </a:solidFill>
                <a:latin typeface="Oswald"/>
                <a:ea typeface="Oswald"/>
                <a:cs typeface="Oswald"/>
                <a:sym typeface="Oswald"/>
              </a:rPr>
              <a:t> - Insertion dynamique des PC portables dans le VLAN </a:t>
            </a:r>
            <a:endParaRPr sz="2200">
              <a:solidFill>
                <a:schemeClr val="dk1"/>
              </a:solidFill>
              <a:latin typeface="Oswald"/>
              <a:ea typeface="Oswald"/>
              <a:cs typeface="Oswald"/>
              <a:sym typeface="Oswald"/>
            </a:endParaRPr>
          </a:p>
          <a:p>
            <a:pPr indent="0" lvl="0" marL="457200" rtl="0" algn="ctr">
              <a:spcBef>
                <a:spcPts val="600"/>
              </a:spcBef>
              <a:spcAft>
                <a:spcPts val="0"/>
              </a:spcAft>
              <a:buNone/>
            </a:pPr>
            <a:r>
              <a:t/>
            </a:r>
            <a:endParaRPr sz="2200">
              <a:solidFill>
                <a:schemeClr val="dk1"/>
              </a:solidFill>
              <a:latin typeface="Oswald"/>
              <a:ea typeface="Oswald"/>
              <a:cs typeface="Oswald"/>
              <a:sym typeface="Oswald"/>
            </a:endParaRPr>
          </a:p>
          <a:p>
            <a:pPr indent="-311150" lvl="0" marL="457200" rtl="0" algn="ctr">
              <a:spcBef>
                <a:spcPts val="600"/>
              </a:spcBef>
              <a:spcAft>
                <a:spcPts val="0"/>
              </a:spcAft>
              <a:buClr>
                <a:schemeClr val="dk1"/>
              </a:buClr>
              <a:buSzPts val="1300"/>
              <a:buChar char="●"/>
            </a:pPr>
            <a:r>
              <a:rPr b="1" lang="fr" sz="2200">
                <a:solidFill>
                  <a:schemeClr val="dk1"/>
                </a:solidFill>
                <a:latin typeface="Oswald"/>
                <a:ea typeface="Oswald"/>
                <a:cs typeface="Oswald"/>
                <a:sym typeface="Oswald"/>
              </a:rPr>
              <a:t>Mission 2: Projet ASSIZ </a:t>
            </a:r>
            <a:r>
              <a:rPr lang="fr" sz="2200">
                <a:solidFill>
                  <a:schemeClr val="dk1"/>
                </a:solidFill>
                <a:latin typeface="Oswald"/>
                <a:ea typeface="Oswald"/>
                <a:cs typeface="Oswald"/>
                <a:sym typeface="Oswald"/>
              </a:rPr>
              <a:t>- Couverture Wi-Fi pour les événements</a:t>
            </a:r>
            <a:endParaRPr sz="2200">
              <a:solidFill>
                <a:schemeClr val="dk1"/>
              </a:solidFill>
              <a:latin typeface="Oswald"/>
              <a:ea typeface="Oswald"/>
              <a:cs typeface="Oswald"/>
              <a:sym typeface="Oswald"/>
            </a:endParaRPr>
          </a:p>
          <a:p>
            <a:pPr indent="0" lvl="0" marL="457200" rtl="0" algn="ctr">
              <a:spcBef>
                <a:spcPts val="600"/>
              </a:spcBef>
              <a:spcAft>
                <a:spcPts val="0"/>
              </a:spcAft>
              <a:buNone/>
            </a:pPr>
            <a:r>
              <a:t/>
            </a:r>
            <a:endParaRPr sz="2700">
              <a:solidFill>
                <a:srgbClr val="898989"/>
              </a:solidFill>
              <a:latin typeface="Oswald"/>
              <a:ea typeface="Oswald"/>
              <a:cs typeface="Oswald"/>
              <a:sym typeface="Oswald"/>
            </a:endParaRPr>
          </a:p>
        </p:txBody>
      </p:sp>
      <p:sp>
        <p:nvSpPr>
          <p:cNvPr id="111" name="Google Shape;111;p1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Objectifs</a:t>
            </a:r>
            <a:r>
              <a:rPr b="1" lang="fr">
                <a:latin typeface="Montserrat"/>
                <a:ea typeface="Montserrat"/>
                <a:cs typeface="Montserrat"/>
                <a:sym typeface="Montserrat"/>
              </a:rPr>
              <a:t> des missions</a:t>
            </a:r>
            <a:endParaRPr b="1">
              <a:latin typeface="Montserrat"/>
              <a:ea typeface="Montserrat"/>
              <a:cs typeface="Montserrat"/>
              <a:sym typeface="Montserrat"/>
            </a:endParaRPr>
          </a:p>
        </p:txBody>
      </p:sp>
      <p:sp>
        <p:nvSpPr>
          <p:cNvPr id="117" name="Google Shape;117;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770"/>
              <a:buNone/>
            </a:pPr>
            <a:r>
              <a:rPr b="1" lang="fr" sz="2090">
                <a:solidFill>
                  <a:schemeClr val="dk1"/>
                </a:solidFill>
                <a:latin typeface="Calibri"/>
                <a:ea typeface="Calibri"/>
                <a:cs typeface="Calibri"/>
                <a:sym typeface="Calibri"/>
              </a:rPr>
              <a:t>Mission 1 :</a:t>
            </a:r>
            <a:r>
              <a:rPr lang="fr" sz="2090">
                <a:solidFill>
                  <a:schemeClr val="dk1"/>
                </a:solidFill>
                <a:latin typeface="Calibri"/>
                <a:ea typeface="Calibri"/>
                <a:cs typeface="Calibri"/>
                <a:sym typeface="Calibri"/>
              </a:rPr>
              <a:t> Projet DYLAN</a:t>
            </a:r>
            <a:endParaRPr sz="2090">
              <a:solidFill>
                <a:schemeClr val="dk1"/>
              </a:solidFill>
              <a:latin typeface="Calibri"/>
              <a:ea typeface="Calibri"/>
              <a:cs typeface="Calibri"/>
              <a:sym typeface="Calibri"/>
            </a:endParaRPr>
          </a:p>
          <a:p>
            <a:pPr indent="0" lvl="0" marL="0" rtl="0" algn="l">
              <a:lnSpc>
                <a:spcPct val="95000"/>
              </a:lnSpc>
              <a:spcBef>
                <a:spcPts val="1200"/>
              </a:spcBef>
              <a:spcAft>
                <a:spcPts val="0"/>
              </a:spcAft>
              <a:buSzPts val="770"/>
              <a:buNone/>
            </a:pPr>
            <a:r>
              <a:rPr lang="fr" sz="2090">
                <a:solidFill>
                  <a:schemeClr val="dk1"/>
                </a:solidFill>
                <a:latin typeface="Calibri"/>
                <a:ea typeface="Calibri"/>
                <a:cs typeface="Calibri"/>
                <a:sym typeface="Calibri"/>
              </a:rPr>
              <a:t>Ce projet vise à permettre l’insertion dynamique des PC portables dans le VLAN correspondant à leur structure lorsqu’ils sont connectés à une prise Ethernet commune dans les salles de réunion de la Maison des Ligues (M2L).</a:t>
            </a:r>
            <a:endParaRPr sz="1795">
              <a:solidFill>
                <a:srgbClr val="000000"/>
              </a:solidFill>
              <a:latin typeface="Calibri"/>
              <a:ea typeface="Calibri"/>
              <a:cs typeface="Calibri"/>
              <a:sym typeface="Calibri"/>
            </a:endParaRPr>
          </a:p>
          <a:p>
            <a:pPr indent="0" lvl="0" marL="0" rtl="0" algn="l">
              <a:lnSpc>
                <a:spcPct val="95000"/>
              </a:lnSpc>
              <a:spcBef>
                <a:spcPts val="1200"/>
              </a:spcBef>
              <a:spcAft>
                <a:spcPts val="0"/>
              </a:spcAft>
              <a:buSzPts val="770"/>
              <a:buNone/>
            </a:pPr>
            <a:r>
              <a:rPr b="1" lang="fr" sz="2090">
                <a:solidFill>
                  <a:schemeClr val="dk1"/>
                </a:solidFill>
                <a:latin typeface="Calibri"/>
                <a:ea typeface="Calibri"/>
                <a:cs typeface="Calibri"/>
                <a:sym typeface="Calibri"/>
              </a:rPr>
              <a:t>Mission 2 : </a:t>
            </a:r>
            <a:r>
              <a:rPr lang="fr" sz="2090">
                <a:solidFill>
                  <a:schemeClr val="dk1"/>
                </a:solidFill>
                <a:latin typeface="Calibri"/>
                <a:ea typeface="Calibri"/>
                <a:cs typeface="Calibri"/>
                <a:sym typeface="Calibri"/>
              </a:rPr>
              <a:t>Projet ASSIZ</a:t>
            </a:r>
            <a:endParaRPr sz="2090">
              <a:solidFill>
                <a:schemeClr val="dk1"/>
              </a:solidFill>
              <a:latin typeface="Calibri"/>
              <a:ea typeface="Calibri"/>
              <a:cs typeface="Calibri"/>
              <a:sym typeface="Calibri"/>
            </a:endParaRPr>
          </a:p>
          <a:p>
            <a:pPr indent="0" lvl="0" marL="0" rtl="0" algn="l">
              <a:lnSpc>
                <a:spcPct val="95000"/>
              </a:lnSpc>
              <a:spcBef>
                <a:spcPts val="1200"/>
              </a:spcBef>
              <a:spcAft>
                <a:spcPts val="1200"/>
              </a:spcAft>
              <a:buSzPts val="770"/>
              <a:buNone/>
            </a:pPr>
            <a:r>
              <a:rPr lang="fr" sz="2090">
                <a:solidFill>
                  <a:schemeClr val="dk1"/>
                </a:solidFill>
                <a:latin typeface="Calibri"/>
                <a:ea typeface="Calibri"/>
                <a:cs typeface="Calibri"/>
                <a:sym typeface="Calibri"/>
              </a:rPr>
              <a:t>Il </a:t>
            </a:r>
            <a:r>
              <a:rPr lang="fr" sz="2090">
                <a:solidFill>
                  <a:schemeClr val="dk1"/>
                </a:solidFill>
                <a:latin typeface="Calibri"/>
                <a:ea typeface="Calibri"/>
                <a:cs typeface="Calibri"/>
                <a:sym typeface="Calibri"/>
              </a:rPr>
              <a:t>vise à concevoir et déployer une infrastructure Wi-Fi temporaire pour les VIèmes assises nationales de l'Escrime.</a:t>
            </a:r>
            <a:endParaRPr sz="1340">
              <a:solidFill>
                <a:schemeClr val="dk1"/>
              </a:solidFill>
              <a:latin typeface="Calibri"/>
              <a:ea typeface="Calibri"/>
              <a:cs typeface="Calibri"/>
              <a:sym typeface="Calibri"/>
            </a:endParaRPr>
          </a:p>
        </p:txBody>
      </p:sp>
      <p:sp>
        <p:nvSpPr>
          <p:cNvPr id="118" name="Google Shape;118;p1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Solutions à la Mission 1</a:t>
            </a:r>
            <a:endParaRPr b="1">
              <a:latin typeface="Montserrat"/>
              <a:ea typeface="Montserrat"/>
              <a:cs typeface="Montserrat"/>
              <a:sym typeface="Montserrat"/>
            </a:endParaRPr>
          </a:p>
        </p:txBody>
      </p:sp>
      <p:sp>
        <p:nvSpPr>
          <p:cNvPr id="124" name="Google Shape;124;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b="1" lang="fr" sz="1600">
                <a:solidFill>
                  <a:schemeClr val="dk1"/>
                </a:solidFill>
                <a:latin typeface="Calibri"/>
                <a:ea typeface="Calibri"/>
                <a:cs typeface="Calibri"/>
                <a:sym typeface="Calibri"/>
              </a:rPr>
              <a:t>Solution 1 :</a:t>
            </a:r>
            <a:r>
              <a:rPr lang="fr" sz="1600">
                <a:solidFill>
                  <a:schemeClr val="dk1"/>
                </a:solidFill>
                <a:latin typeface="Calibri"/>
                <a:ea typeface="Calibri"/>
                <a:cs typeface="Calibri"/>
                <a:sym typeface="Calibri"/>
              </a:rPr>
              <a:t> Port-based VLAN</a:t>
            </a:r>
            <a:endParaRPr sz="1600">
              <a:solidFill>
                <a:schemeClr val="dk1"/>
              </a:solidFill>
              <a:latin typeface="Calibri"/>
              <a:ea typeface="Calibri"/>
              <a:cs typeface="Calibri"/>
              <a:sym typeface="Calibri"/>
            </a:endParaRPr>
          </a:p>
          <a:p>
            <a:pPr indent="457200" lvl="0" marL="0" rtl="0" algn="l">
              <a:lnSpc>
                <a:spcPct val="105000"/>
              </a:lnSpc>
              <a:spcBef>
                <a:spcPts val="1200"/>
              </a:spcBef>
              <a:spcAft>
                <a:spcPts val="0"/>
              </a:spcAft>
              <a:buNone/>
            </a:pPr>
            <a:r>
              <a:rPr lang="fr" sz="1600">
                <a:solidFill>
                  <a:schemeClr val="dk1"/>
                </a:solidFill>
                <a:latin typeface="Calibri"/>
                <a:ea typeface="Calibri"/>
                <a:cs typeface="Calibri"/>
                <a:sym typeface="Calibri"/>
              </a:rPr>
              <a:t>=&gt; basé sur les ports et </a:t>
            </a:r>
            <a:r>
              <a:rPr lang="fr" sz="1600">
                <a:solidFill>
                  <a:schemeClr val="dk1"/>
                </a:solidFill>
                <a:latin typeface="Calibri"/>
                <a:ea typeface="Calibri"/>
                <a:cs typeface="Calibri"/>
                <a:sym typeface="Calibri"/>
              </a:rPr>
              <a:t>attribue un VLAN spécifique à chaque port du switch réseau.</a:t>
            </a:r>
            <a:endParaRPr sz="1600">
              <a:solidFill>
                <a:schemeClr val="dk1"/>
              </a:solidFill>
              <a:latin typeface="Calibri"/>
              <a:ea typeface="Calibri"/>
              <a:cs typeface="Calibri"/>
              <a:sym typeface="Calibri"/>
            </a:endParaRPr>
          </a:p>
          <a:p>
            <a:pPr indent="0" lvl="0" marL="0" rtl="0" algn="l">
              <a:lnSpc>
                <a:spcPct val="105000"/>
              </a:lnSpc>
              <a:spcBef>
                <a:spcPts val="1200"/>
              </a:spcBef>
              <a:spcAft>
                <a:spcPts val="0"/>
              </a:spcAft>
              <a:buNone/>
            </a:pPr>
            <a:r>
              <a:rPr b="1" lang="fr" sz="1600">
                <a:solidFill>
                  <a:schemeClr val="dk1"/>
                </a:solidFill>
                <a:latin typeface="Calibri"/>
                <a:ea typeface="Calibri"/>
                <a:cs typeface="Calibri"/>
                <a:sym typeface="Calibri"/>
              </a:rPr>
              <a:t>Solution 2 : </a:t>
            </a:r>
            <a:r>
              <a:rPr lang="fr" sz="1600">
                <a:solidFill>
                  <a:schemeClr val="dk1"/>
                </a:solidFill>
                <a:latin typeface="Calibri"/>
                <a:ea typeface="Calibri"/>
                <a:cs typeface="Calibri"/>
                <a:sym typeface="Calibri"/>
              </a:rPr>
              <a:t>Protocol-based VLAN</a:t>
            </a:r>
            <a:endParaRPr sz="1600">
              <a:solidFill>
                <a:schemeClr val="dk1"/>
              </a:solidFill>
              <a:latin typeface="Calibri"/>
              <a:ea typeface="Calibri"/>
              <a:cs typeface="Calibri"/>
              <a:sym typeface="Calibri"/>
            </a:endParaRPr>
          </a:p>
          <a:p>
            <a:pPr indent="457200" lvl="0" marL="0" rtl="0" algn="l">
              <a:lnSpc>
                <a:spcPct val="105000"/>
              </a:lnSpc>
              <a:spcBef>
                <a:spcPts val="1200"/>
              </a:spcBef>
              <a:spcAft>
                <a:spcPts val="0"/>
              </a:spcAft>
              <a:buNone/>
            </a:pPr>
            <a:r>
              <a:rPr lang="fr" sz="1600">
                <a:solidFill>
                  <a:schemeClr val="dk1"/>
                </a:solidFill>
                <a:latin typeface="Calibri"/>
                <a:ea typeface="Calibri"/>
                <a:cs typeface="Calibri"/>
                <a:sym typeface="Calibri"/>
              </a:rPr>
              <a:t>=&gt; </a:t>
            </a:r>
            <a:r>
              <a:rPr lang="fr" sz="1000">
                <a:solidFill>
                  <a:schemeClr val="dk1"/>
                </a:solidFill>
                <a:latin typeface="Montserrat"/>
                <a:ea typeface="Montserrat"/>
                <a:cs typeface="Montserrat"/>
                <a:sym typeface="Montserrat"/>
              </a:rPr>
              <a:t> </a:t>
            </a:r>
            <a:r>
              <a:rPr lang="fr" sz="1600">
                <a:solidFill>
                  <a:schemeClr val="dk1"/>
                </a:solidFill>
                <a:latin typeface="Calibri"/>
                <a:ea typeface="Calibri"/>
                <a:cs typeface="Calibri"/>
                <a:sym typeface="Calibri"/>
              </a:rPr>
              <a:t>basé sur le protocole, les équipements sont assignés à un VLAN en fonction du type de trafic qu’ils génèrent. </a:t>
            </a:r>
            <a:endParaRPr sz="2200">
              <a:solidFill>
                <a:schemeClr val="dk1"/>
              </a:solidFill>
              <a:latin typeface="Calibri"/>
              <a:ea typeface="Calibri"/>
              <a:cs typeface="Calibri"/>
              <a:sym typeface="Calibri"/>
            </a:endParaRPr>
          </a:p>
          <a:p>
            <a:pPr indent="0" lvl="0" marL="0" rtl="0" algn="l">
              <a:lnSpc>
                <a:spcPct val="105000"/>
              </a:lnSpc>
              <a:spcBef>
                <a:spcPts val="1200"/>
              </a:spcBef>
              <a:spcAft>
                <a:spcPts val="0"/>
              </a:spcAft>
              <a:buNone/>
            </a:pPr>
            <a:r>
              <a:rPr b="1" lang="fr" sz="1600">
                <a:solidFill>
                  <a:schemeClr val="dk1"/>
                </a:solidFill>
                <a:latin typeface="Calibri"/>
                <a:ea typeface="Calibri"/>
                <a:cs typeface="Calibri"/>
                <a:sym typeface="Calibri"/>
              </a:rPr>
              <a:t>Solution 3 :</a:t>
            </a:r>
            <a:r>
              <a:rPr lang="fr" sz="1600">
                <a:solidFill>
                  <a:schemeClr val="dk1"/>
                </a:solidFill>
                <a:latin typeface="Calibri"/>
                <a:ea typeface="Calibri"/>
                <a:cs typeface="Calibri"/>
                <a:sym typeface="Calibri"/>
              </a:rPr>
              <a:t> MAC-based VLAN</a:t>
            </a:r>
            <a:endParaRPr sz="1600">
              <a:solidFill>
                <a:schemeClr val="dk1"/>
              </a:solidFill>
              <a:latin typeface="Calibri"/>
              <a:ea typeface="Calibri"/>
              <a:cs typeface="Calibri"/>
              <a:sym typeface="Calibri"/>
            </a:endParaRPr>
          </a:p>
          <a:p>
            <a:pPr indent="457200" lvl="0" marL="0" rtl="0" algn="l">
              <a:lnSpc>
                <a:spcPct val="105000"/>
              </a:lnSpc>
              <a:spcBef>
                <a:spcPts val="1200"/>
              </a:spcBef>
              <a:spcAft>
                <a:spcPts val="1200"/>
              </a:spcAft>
              <a:buNone/>
            </a:pPr>
            <a:r>
              <a:rPr lang="fr" sz="1600">
                <a:solidFill>
                  <a:schemeClr val="dk1"/>
                </a:solidFill>
                <a:latin typeface="Calibri"/>
                <a:ea typeface="Calibri"/>
                <a:cs typeface="Calibri"/>
                <a:sym typeface="Calibri"/>
              </a:rPr>
              <a:t>=&gt; b</a:t>
            </a:r>
            <a:r>
              <a:rPr lang="fr" sz="1600">
                <a:solidFill>
                  <a:schemeClr val="dk1"/>
                </a:solidFill>
                <a:latin typeface="Calibri"/>
                <a:ea typeface="Calibri"/>
                <a:cs typeface="Calibri"/>
                <a:sym typeface="Calibri"/>
              </a:rPr>
              <a:t>asé sur l’adresse MAC attribue un VLAN en fonction de l’adresse MAC unique de chaque appareil.</a:t>
            </a:r>
            <a:endParaRPr sz="1600">
              <a:solidFill>
                <a:schemeClr val="dk1"/>
              </a:solidFill>
              <a:latin typeface="Calibri"/>
              <a:ea typeface="Calibri"/>
              <a:cs typeface="Calibri"/>
              <a:sym typeface="Calibri"/>
            </a:endParaRPr>
          </a:p>
        </p:txBody>
      </p:sp>
      <p:sp>
        <p:nvSpPr>
          <p:cNvPr id="125" name="Google Shape;125;p1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6667"/>
              <a:buFont typeface="Arial"/>
              <a:buNone/>
            </a:pPr>
            <a:r>
              <a:rPr b="1" lang="fr">
                <a:latin typeface="Montserrat"/>
                <a:ea typeface="Montserrat"/>
                <a:cs typeface="Montserrat"/>
                <a:sym typeface="Montserrat"/>
              </a:rPr>
              <a:t>Solutions à la Mission 2</a:t>
            </a:r>
            <a:endParaRPr b="1">
              <a:latin typeface="Montserrat"/>
              <a:ea typeface="Montserrat"/>
              <a:cs typeface="Montserrat"/>
              <a:sym typeface="Montserrat"/>
            </a:endParaRPr>
          </a:p>
          <a:p>
            <a:pPr indent="0" lvl="0" marL="0" rtl="0" algn="l">
              <a:spcBef>
                <a:spcPts val="0"/>
              </a:spcBef>
              <a:spcAft>
                <a:spcPts val="0"/>
              </a:spcAft>
              <a:buNone/>
            </a:pPr>
            <a:r>
              <a:t/>
            </a:r>
            <a:endParaRPr b="1">
              <a:latin typeface="Montserrat"/>
              <a:ea typeface="Montserrat"/>
              <a:cs typeface="Montserrat"/>
              <a:sym typeface="Montserrat"/>
            </a:endParaRPr>
          </a:p>
        </p:txBody>
      </p:sp>
      <p:sp>
        <p:nvSpPr>
          <p:cNvPr id="131" name="Google Shape;131;p19"/>
          <p:cNvSpPr txBox="1"/>
          <p:nvPr>
            <p:ph idx="1" type="body"/>
          </p:nvPr>
        </p:nvSpPr>
        <p:spPr>
          <a:xfrm>
            <a:off x="311700" y="11633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b="1">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rPr b="1" lang="fr">
                <a:solidFill>
                  <a:schemeClr val="dk1"/>
                </a:solidFill>
                <a:latin typeface="Calibri"/>
                <a:ea typeface="Calibri"/>
                <a:cs typeface="Calibri"/>
                <a:sym typeface="Calibri"/>
              </a:rPr>
              <a:t>Solution 1 :</a:t>
            </a:r>
            <a:r>
              <a:rPr lang="fr">
                <a:solidFill>
                  <a:schemeClr val="dk1"/>
                </a:solidFill>
                <a:latin typeface="Calibri"/>
                <a:ea typeface="Calibri"/>
                <a:cs typeface="Calibri"/>
                <a:sym typeface="Calibri"/>
              </a:rPr>
              <a:t> Création de plusieurs Points d’accès avec segmentation. </a:t>
            </a:r>
            <a:endParaRPr>
              <a:solidFill>
                <a:schemeClr val="dk1"/>
              </a:solidFill>
              <a:latin typeface="Calibri"/>
              <a:ea typeface="Calibri"/>
              <a:cs typeface="Calibri"/>
              <a:sym typeface="Calibri"/>
            </a:endParaRPr>
          </a:p>
          <a:p>
            <a:pPr indent="457200" lvl="0" marL="0" rtl="0" algn="l">
              <a:spcBef>
                <a:spcPts val="1200"/>
              </a:spcBef>
              <a:spcAft>
                <a:spcPts val="0"/>
              </a:spcAft>
              <a:buClr>
                <a:schemeClr val="dk1"/>
              </a:buClr>
              <a:buSzPts val="1100"/>
              <a:buFont typeface="Arial"/>
              <a:buNone/>
            </a:pPr>
            <a:r>
              <a:rPr lang="fr">
                <a:solidFill>
                  <a:schemeClr val="dk1"/>
                </a:solidFill>
                <a:latin typeface="Calibri"/>
                <a:ea typeface="Calibri"/>
                <a:cs typeface="Calibri"/>
                <a:sym typeface="Calibri"/>
              </a:rPr>
              <a:t>=&gt; mise en place de trois routeurs WiFi séparés, chacun diffusant un SSID distinct (Invités, Organisateurs, Presse)</a:t>
            </a:r>
            <a:endParaRPr>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rPr b="1" lang="fr">
                <a:solidFill>
                  <a:schemeClr val="dk1"/>
                </a:solidFill>
                <a:latin typeface="Calibri"/>
                <a:ea typeface="Calibri"/>
                <a:cs typeface="Calibri"/>
                <a:sym typeface="Calibri"/>
              </a:rPr>
              <a:t>Solution 2 : </a:t>
            </a:r>
            <a:r>
              <a:rPr lang="fr">
                <a:solidFill>
                  <a:schemeClr val="dk1"/>
                </a:solidFill>
                <a:latin typeface="Calibri"/>
                <a:ea typeface="Calibri"/>
                <a:cs typeface="Calibri"/>
                <a:sym typeface="Calibri"/>
              </a:rPr>
              <a:t>Utilisation de VLANs avec un Contrôleur WiFi.</a:t>
            </a:r>
            <a:endParaRPr>
              <a:solidFill>
                <a:schemeClr val="dk1"/>
              </a:solidFill>
              <a:latin typeface="Calibri"/>
              <a:ea typeface="Calibri"/>
              <a:cs typeface="Calibri"/>
              <a:sym typeface="Calibri"/>
            </a:endParaRPr>
          </a:p>
          <a:p>
            <a:pPr indent="457200" lvl="0" marL="0" rtl="0" algn="l">
              <a:spcBef>
                <a:spcPts val="1200"/>
              </a:spcBef>
              <a:spcAft>
                <a:spcPts val="1200"/>
              </a:spcAft>
              <a:buClr>
                <a:schemeClr val="dk1"/>
              </a:buClr>
              <a:buSzPts val="1100"/>
              <a:buFont typeface="Arial"/>
              <a:buNone/>
            </a:pPr>
            <a:r>
              <a:rPr lang="fr">
                <a:solidFill>
                  <a:schemeClr val="dk1"/>
                </a:solidFill>
                <a:latin typeface="Calibri"/>
                <a:ea typeface="Calibri"/>
                <a:cs typeface="Calibri"/>
                <a:sym typeface="Calibri"/>
              </a:rPr>
              <a:t>=&gt; emploi un contrôleur WiFi central qui assure la gestion de l'ensemble des points d'accès.</a:t>
            </a:r>
            <a:endParaRPr>
              <a:solidFill>
                <a:schemeClr val="dk1"/>
              </a:solidFill>
              <a:latin typeface="Calibri"/>
              <a:ea typeface="Calibri"/>
              <a:cs typeface="Calibri"/>
              <a:sym typeface="Calibri"/>
            </a:endParaRPr>
          </a:p>
        </p:txBody>
      </p:sp>
      <p:sp>
        <p:nvSpPr>
          <p:cNvPr id="132" name="Google Shape;132;p1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Comparatif des solutions</a:t>
            </a:r>
            <a:endParaRPr b="1">
              <a:latin typeface="Montserrat"/>
              <a:ea typeface="Montserrat"/>
              <a:cs typeface="Montserrat"/>
              <a:sym typeface="Montserrat"/>
            </a:endParaRPr>
          </a:p>
        </p:txBody>
      </p:sp>
      <p:sp>
        <p:nvSpPr>
          <p:cNvPr id="138" name="Google Shape;138;p20"/>
          <p:cNvSpPr txBox="1"/>
          <p:nvPr>
            <p:ph idx="1" type="body"/>
          </p:nvPr>
        </p:nvSpPr>
        <p:spPr>
          <a:xfrm>
            <a:off x="311700" y="1080325"/>
            <a:ext cx="8520600" cy="3339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fr" u="sng">
                <a:solidFill>
                  <a:schemeClr val="dk1"/>
                </a:solidFill>
                <a:latin typeface="Calibri"/>
                <a:ea typeface="Calibri"/>
                <a:cs typeface="Calibri"/>
                <a:sym typeface="Calibri"/>
              </a:rPr>
              <a:t>Projet Dylan :</a:t>
            </a:r>
            <a:endParaRPr b="1" u="sng">
              <a:solidFill>
                <a:schemeClr val="dk1"/>
              </a:solidFill>
              <a:latin typeface="Calibri"/>
              <a:ea typeface="Calibri"/>
              <a:cs typeface="Calibri"/>
              <a:sym typeface="Calibri"/>
            </a:endParaRPr>
          </a:p>
          <a:p>
            <a:pPr indent="0" lvl="0" marL="0" rtl="0" algn="l">
              <a:spcBef>
                <a:spcPts val="1200"/>
              </a:spcBef>
              <a:spcAft>
                <a:spcPts val="0"/>
              </a:spcAft>
              <a:buNone/>
            </a:pPr>
            <a:r>
              <a:rPr b="1" lang="fr">
                <a:solidFill>
                  <a:schemeClr val="dk1"/>
                </a:solidFill>
                <a:latin typeface="Calibri"/>
                <a:ea typeface="Calibri"/>
                <a:cs typeface="Calibri"/>
                <a:sym typeface="Calibri"/>
              </a:rPr>
              <a:t>Solution 1 :</a:t>
            </a:r>
            <a:r>
              <a:rPr lang="fr">
                <a:solidFill>
                  <a:schemeClr val="dk1"/>
                </a:solidFill>
                <a:latin typeface="Calibri"/>
                <a:ea typeface="Calibri"/>
                <a:cs typeface="Calibri"/>
                <a:sym typeface="Calibri"/>
              </a:rPr>
              <a:t> Port-based VLAN </a:t>
            </a:r>
            <a:endParaRPr>
              <a:solidFill>
                <a:schemeClr val="dk1"/>
              </a:solidFill>
              <a:latin typeface="Calibri"/>
              <a:ea typeface="Calibri"/>
              <a:cs typeface="Calibri"/>
              <a:sym typeface="Calibri"/>
            </a:endParaRPr>
          </a:p>
          <a:p>
            <a:pPr indent="457200" lvl="0" marL="0" rtl="0" algn="l">
              <a:spcBef>
                <a:spcPts val="1200"/>
              </a:spcBef>
              <a:spcAft>
                <a:spcPts val="0"/>
              </a:spcAft>
              <a:buClr>
                <a:schemeClr val="dk1"/>
              </a:buClr>
              <a:buSzPts val="1100"/>
              <a:buFont typeface="Arial"/>
              <a:buNone/>
            </a:pPr>
            <a:r>
              <a:rPr lang="fr">
                <a:solidFill>
                  <a:schemeClr val="dk1"/>
                </a:solidFill>
                <a:latin typeface="Calibri"/>
                <a:ea typeface="Calibri"/>
                <a:cs typeface="Calibri"/>
                <a:sym typeface="Calibri"/>
              </a:rPr>
              <a:t>=&gt; Simple mais manque de flexibilité.</a:t>
            </a:r>
            <a:endParaRPr>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rPr b="1" lang="fr">
                <a:solidFill>
                  <a:schemeClr val="dk1"/>
                </a:solidFill>
                <a:latin typeface="Calibri"/>
                <a:ea typeface="Calibri"/>
                <a:cs typeface="Calibri"/>
                <a:sym typeface="Calibri"/>
              </a:rPr>
              <a:t>Solution 2 : </a:t>
            </a:r>
            <a:r>
              <a:rPr lang="fr">
                <a:solidFill>
                  <a:schemeClr val="dk1"/>
                </a:solidFill>
                <a:latin typeface="Calibri"/>
                <a:ea typeface="Calibri"/>
                <a:cs typeface="Calibri"/>
                <a:sym typeface="Calibri"/>
              </a:rPr>
              <a:t>Protocol-based VLAN</a:t>
            </a:r>
            <a:endParaRPr>
              <a:solidFill>
                <a:schemeClr val="dk1"/>
              </a:solidFill>
              <a:latin typeface="Calibri"/>
              <a:ea typeface="Calibri"/>
              <a:cs typeface="Calibri"/>
              <a:sym typeface="Calibri"/>
            </a:endParaRPr>
          </a:p>
          <a:p>
            <a:pPr indent="457200" lvl="0" marL="0" rtl="0" algn="l">
              <a:spcBef>
                <a:spcPts val="1200"/>
              </a:spcBef>
              <a:spcAft>
                <a:spcPts val="0"/>
              </a:spcAft>
              <a:buClr>
                <a:schemeClr val="dk1"/>
              </a:buClr>
              <a:buSzPts val="1100"/>
              <a:buFont typeface="Arial"/>
              <a:buNone/>
            </a:pPr>
            <a:r>
              <a:rPr lang="fr">
                <a:solidFill>
                  <a:schemeClr val="dk1"/>
                </a:solidFill>
                <a:latin typeface="Calibri"/>
                <a:ea typeface="Calibri"/>
                <a:cs typeface="Calibri"/>
                <a:sym typeface="Calibri"/>
              </a:rPr>
              <a:t>=&gt; Complexe mais optimale pour la gestion du trafic. </a:t>
            </a:r>
            <a:endParaRPr>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rPr b="1" lang="fr">
                <a:solidFill>
                  <a:schemeClr val="dk1"/>
                </a:solidFill>
                <a:latin typeface="Calibri"/>
                <a:ea typeface="Calibri"/>
                <a:cs typeface="Calibri"/>
                <a:sym typeface="Calibri"/>
              </a:rPr>
              <a:t>Solution 3 :</a:t>
            </a:r>
            <a:r>
              <a:rPr lang="fr">
                <a:solidFill>
                  <a:schemeClr val="dk1"/>
                </a:solidFill>
                <a:latin typeface="Calibri"/>
                <a:ea typeface="Calibri"/>
                <a:cs typeface="Calibri"/>
                <a:sym typeface="Calibri"/>
              </a:rPr>
              <a:t> MAC-based VLAN</a:t>
            </a:r>
            <a:endParaRPr>
              <a:solidFill>
                <a:schemeClr val="dk1"/>
              </a:solidFill>
              <a:latin typeface="Calibri"/>
              <a:ea typeface="Calibri"/>
              <a:cs typeface="Calibri"/>
              <a:sym typeface="Calibri"/>
            </a:endParaRPr>
          </a:p>
          <a:p>
            <a:pPr indent="457200" lvl="0" marL="0" rtl="0" algn="l">
              <a:spcBef>
                <a:spcPts val="1200"/>
              </a:spcBef>
              <a:spcAft>
                <a:spcPts val="1200"/>
              </a:spcAft>
              <a:buNone/>
            </a:pPr>
            <a:r>
              <a:rPr lang="fr">
                <a:solidFill>
                  <a:schemeClr val="dk1"/>
                </a:solidFill>
                <a:latin typeface="Calibri"/>
                <a:ea typeface="Calibri"/>
                <a:cs typeface="Calibri"/>
                <a:sym typeface="Calibri"/>
              </a:rPr>
              <a:t>=&gt; Flexible, idéale pour les utilisateurs mobiles mais mise en place demande du temps</a:t>
            </a:r>
            <a:endParaRPr>
              <a:solidFill>
                <a:schemeClr val="dk1"/>
              </a:solidFill>
              <a:latin typeface="Calibri"/>
              <a:ea typeface="Calibri"/>
              <a:cs typeface="Calibri"/>
              <a:sym typeface="Calibri"/>
            </a:endParaRPr>
          </a:p>
        </p:txBody>
      </p:sp>
      <p:sp>
        <p:nvSpPr>
          <p:cNvPr id="139" name="Google Shape;139;p2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Choix</a:t>
            </a:r>
            <a:endParaRPr b="1">
              <a:latin typeface="Montserrat"/>
              <a:ea typeface="Montserrat"/>
              <a:cs typeface="Montserrat"/>
              <a:sym typeface="Montserrat"/>
            </a:endParaRPr>
          </a:p>
        </p:txBody>
      </p:sp>
      <p:sp>
        <p:nvSpPr>
          <p:cNvPr id="145" name="Google Shape;145;p2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solidFill>
                <a:schemeClr val="dk1"/>
              </a:solidFill>
              <a:latin typeface="Calibri"/>
              <a:ea typeface="Calibri"/>
              <a:cs typeface="Calibri"/>
              <a:sym typeface="Calibri"/>
            </a:endParaRPr>
          </a:p>
          <a:p>
            <a:pPr indent="0" lvl="0" marL="0" rtl="0" algn="l">
              <a:spcBef>
                <a:spcPts val="1200"/>
              </a:spcBef>
              <a:spcAft>
                <a:spcPts val="0"/>
              </a:spcAft>
              <a:buNone/>
            </a:pPr>
            <a:r>
              <a:rPr b="1" lang="fr">
                <a:solidFill>
                  <a:schemeClr val="dk1"/>
                </a:solidFill>
                <a:latin typeface="Calibri"/>
                <a:ea typeface="Calibri"/>
                <a:cs typeface="Calibri"/>
                <a:sym typeface="Calibri"/>
              </a:rPr>
              <a:t>Solution 3 :</a:t>
            </a:r>
            <a:r>
              <a:rPr lang="fr">
                <a:solidFill>
                  <a:schemeClr val="dk1"/>
                </a:solidFill>
                <a:latin typeface="Calibri"/>
                <a:ea typeface="Calibri"/>
                <a:cs typeface="Calibri"/>
                <a:sym typeface="Calibri"/>
              </a:rPr>
              <a:t> MAC-based VLAN</a:t>
            </a:r>
            <a:endParaRPr>
              <a:solidFill>
                <a:schemeClr val="dk1"/>
              </a:solidFill>
              <a:latin typeface="Calibri"/>
              <a:ea typeface="Calibri"/>
              <a:cs typeface="Calibri"/>
              <a:sym typeface="Calibri"/>
            </a:endParaRPr>
          </a:p>
          <a:p>
            <a:pPr indent="0" lvl="0" marL="0" rtl="0" algn="l">
              <a:spcBef>
                <a:spcPts val="1200"/>
              </a:spcBef>
              <a:spcAft>
                <a:spcPts val="0"/>
              </a:spcAft>
              <a:buNone/>
            </a:pPr>
            <a:r>
              <a:t/>
            </a:r>
            <a:endParaRPr b="1">
              <a:solidFill>
                <a:schemeClr val="dk1"/>
              </a:solidFill>
              <a:latin typeface="Calibri"/>
              <a:ea typeface="Calibri"/>
              <a:cs typeface="Calibri"/>
              <a:sym typeface="Calibri"/>
            </a:endParaRPr>
          </a:p>
          <a:p>
            <a:pPr indent="0" lvl="0" marL="0" rtl="0" algn="l">
              <a:spcBef>
                <a:spcPts val="1200"/>
              </a:spcBef>
              <a:spcAft>
                <a:spcPts val="0"/>
              </a:spcAft>
              <a:buNone/>
            </a:pPr>
            <a:r>
              <a:rPr b="1" lang="fr">
                <a:solidFill>
                  <a:schemeClr val="dk1"/>
                </a:solidFill>
                <a:latin typeface="Calibri"/>
                <a:ea typeface="Calibri"/>
                <a:cs typeface="Calibri"/>
                <a:sym typeface="Calibri"/>
              </a:rPr>
              <a:t>Raison :</a:t>
            </a:r>
            <a:r>
              <a:rPr lang="fr">
                <a:solidFill>
                  <a:schemeClr val="dk1"/>
                </a:solidFill>
                <a:latin typeface="Calibri"/>
                <a:ea typeface="Calibri"/>
                <a:cs typeface="Calibri"/>
                <a:sym typeface="Calibri"/>
              </a:rPr>
              <a:t> </a:t>
            </a:r>
            <a:r>
              <a:rPr lang="fr" sz="1200">
                <a:solidFill>
                  <a:schemeClr val="dk1"/>
                </a:solidFill>
                <a:latin typeface="Calibri"/>
                <a:ea typeface="Calibri"/>
                <a:cs typeface="Calibri"/>
                <a:sym typeface="Calibri"/>
              </a:rPr>
              <a:t> </a:t>
            </a:r>
            <a:r>
              <a:rPr lang="fr">
                <a:solidFill>
                  <a:schemeClr val="dk1"/>
                </a:solidFill>
                <a:latin typeface="Calibri"/>
                <a:ea typeface="Calibri"/>
                <a:cs typeface="Calibri"/>
                <a:sym typeface="Calibri"/>
              </a:rPr>
              <a:t>permet une insertion dynamique et flexible des PC portables dans le VLAN, offrant une gestion sans grands problèmes.</a:t>
            </a:r>
            <a:endParaRPr>
              <a:solidFill>
                <a:schemeClr val="dk1"/>
              </a:solidFill>
              <a:latin typeface="Calibri"/>
              <a:ea typeface="Calibri"/>
              <a:cs typeface="Calibri"/>
              <a:sym typeface="Calibri"/>
            </a:endParaRPr>
          </a:p>
          <a:p>
            <a:pPr indent="0" lvl="0" marL="0" rtl="0" algn="l">
              <a:spcBef>
                <a:spcPts val="1200"/>
              </a:spcBef>
              <a:spcAft>
                <a:spcPts val="1200"/>
              </a:spcAft>
              <a:buNone/>
            </a:pPr>
            <a:r>
              <a:t/>
            </a:r>
            <a:endParaRPr>
              <a:solidFill>
                <a:schemeClr val="dk1"/>
              </a:solidFill>
              <a:latin typeface="Calibri"/>
              <a:ea typeface="Calibri"/>
              <a:cs typeface="Calibri"/>
              <a:sym typeface="Calibri"/>
            </a:endParaRPr>
          </a:p>
        </p:txBody>
      </p:sp>
      <p:sp>
        <p:nvSpPr>
          <p:cNvPr id="146" name="Google Shape;146;p2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6667"/>
              <a:buFont typeface="Arial"/>
              <a:buNone/>
            </a:pPr>
            <a:r>
              <a:rPr b="1" lang="fr">
                <a:latin typeface="Montserrat"/>
                <a:ea typeface="Montserrat"/>
                <a:cs typeface="Montserrat"/>
                <a:sym typeface="Montserrat"/>
              </a:rPr>
              <a:t>Comparatif des solutions</a:t>
            </a:r>
            <a:endParaRPr b="1">
              <a:latin typeface="Montserrat"/>
              <a:ea typeface="Montserrat"/>
              <a:cs typeface="Montserrat"/>
              <a:sym typeface="Montserrat"/>
            </a:endParaRPr>
          </a:p>
        </p:txBody>
      </p:sp>
      <p:sp>
        <p:nvSpPr>
          <p:cNvPr id="152" name="Google Shape;152;p2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fr" u="sng">
                <a:solidFill>
                  <a:schemeClr val="dk1"/>
                </a:solidFill>
                <a:latin typeface="Calibri"/>
                <a:ea typeface="Calibri"/>
                <a:cs typeface="Calibri"/>
                <a:sym typeface="Calibri"/>
              </a:rPr>
              <a:t>Projet ASSIZ :</a:t>
            </a:r>
            <a:endParaRPr b="1" u="sng">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rPr b="1" lang="fr">
                <a:solidFill>
                  <a:schemeClr val="dk1"/>
                </a:solidFill>
                <a:latin typeface="Calibri"/>
                <a:ea typeface="Calibri"/>
                <a:cs typeface="Calibri"/>
                <a:sym typeface="Calibri"/>
              </a:rPr>
              <a:t>Solution 1 :</a:t>
            </a:r>
            <a:r>
              <a:rPr lang="fr">
                <a:solidFill>
                  <a:schemeClr val="dk1"/>
                </a:solidFill>
                <a:latin typeface="Calibri"/>
                <a:ea typeface="Calibri"/>
                <a:cs typeface="Calibri"/>
                <a:sym typeface="Calibri"/>
              </a:rPr>
              <a:t> Création de plusieurs SSID avec segmentation. </a:t>
            </a:r>
            <a:endParaRPr>
              <a:solidFill>
                <a:schemeClr val="dk1"/>
              </a:solidFill>
              <a:latin typeface="Calibri"/>
              <a:ea typeface="Calibri"/>
              <a:cs typeface="Calibri"/>
              <a:sym typeface="Calibri"/>
            </a:endParaRPr>
          </a:p>
          <a:p>
            <a:pPr indent="457200" lvl="0" marL="0" rtl="0" algn="l">
              <a:spcBef>
                <a:spcPts val="1200"/>
              </a:spcBef>
              <a:spcAft>
                <a:spcPts val="0"/>
              </a:spcAft>
              <a:buNone/>
            </a:pPr>
            <a:r>
              <a:rPr lang="fr">
                <a:solidFill>
                  <a:schemeClr val="dk1"/>
                </a:solidFill>
                <a:latin typeface="Calibri"/>
                <a:ea typeface="Calibri"/>
                <a:cs typeface="Calibri"/>
                <a:sym typeface="Calibri"/>
              </a:rPr>
              <a:t>=&gt; Sépare les utilisateurs, mais génère des interférences et complique la gestion</a:t>
            </a:r>
            <a:endParaRPr>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rPr b="1" lang="fr">
                <a:solidFill>
                  <a:schemeClr val="dk1"/>
                </a:solidFill>
                <a:latin typeface="Calibri"/>
                <a:ea typeface="Calibri"/>
                <a:cs typeface="Calibri"/>
                <a:sym typeface="Calibri"/>
              </a:rPr>
              <a:t>Solution 2 : </a:t>
            </a:r>
            <a:r>
              <a:rPr lang="fr">
                <a:solidFill>
                  <a:schemeClr val="dk1"/>
                </a:solidFill>
                <a:latin typeface="Calibri"/>
                <a:ea typeface="Calibri"/>
                <a:cs typeface="Calibri"/>
                <a:sym typeface="Calibri"/>
              </a:rPr>
              <a:t>Utilisation de VLANs avec un Contrôleur WiFi.</a:t>
            </a:r>
            <a:endParaRPr>
              <a:solidFill>
                <a:schemeClr val="dk1"/>
              </a:solidFill>
              <a:latin typeface="Calibri"/>
              <a:ea typeface="Calibri"/>
              <a:cs typeface="Calibri"/>
              <a:sym typeface="Calibri"/>
            </a:endParaRPr>
          </a:p>
          <a:p>
            <a:pPr indent="457200" lvl="0" marL="0" rtl="0" algn="l">
              <a:spcBef>
                <a:spcPts val="1200"/>
              </a:spcBef>
              <a:spcAft>
                <a:spcPts val="1200"/>
              </a:spcAft>
              <a:buClr>
                <a:schemeClr val="dk1"/>
              </a:buClr>
              <a:buSzPts val="1100"/>
              <a:buFont typeface="Arial"/>
              <a:buNone/>
            </a:pPr>
            <a:r>
              <a:rPr lang="fr">
                <a:solidFill>
                  <a:schemeClr val="dk1"/>
                </a:solidFill>
                <a:latin typeface="Calibri"/>
                <a:ea typeface="Calibri"/>
                <a:cs typeface="Calibri"/>
                <a:sym typeface="Calibri"/>
              </a:rPr>
              <a:t>=&gt; Offre une gestion centralisée, plus de sécurité et une meilleure répartition des ressources</a:t>
            </a:r>
            <a:endParaRPr>
              <a:latin typeface="Calibri"/>
              <a:ea typeface="Calibri"/>
              <a:cs typeface="Calibri"/>
              <a:sym typeface="Calibri"/>
            </a:endParaRPr>
          </a:p>
        </p:txBody>
      </p:sp>
      <p:sp>
        <p:nvSpPr>
          <p:cNvPr id="153" name="Google Shape;153;p2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Choix</a:t>
            </a:r>
            <a:endParaRPr b="1">
              <a:latin typeface="Montserrat"/>
              <a:ea typeface="Montserrat"/>
              <a:cs typeface="Montserrat"/>
              <a:sym typeface="Montserrat"/>
            </a:endParaRPr>
          </a:p>
        </p:txBody>
      </p:sp>
      <p:sp>
        <p:nvSpPr>
          <p:cNvPr id="159" name="Google Shape;159;p2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solidFill>
                <a:schemeClr val="dk1"/>
              </a:solidFill>
              <a:latin typeface="Calibri"/>
              <a:ea typeface="Calibri"/>
              <a:cs typeface="Calibri"/>
              <a:sym typeface="Calibri"/>
            </a:endParaRPr>
          </a:p>
          <a:p>
            <a:pPr indent="0" lvl="0" marL="0" rtl="0" algn="l">
              <a:spcBef>
                <a:spcPts val="1200"/>
              </a:spcBef>
              <a:spcAft>
                <a:spcPts val="0"/>
              </a:spcAft>
              <a:buNone/>
            </a:pPr>
            <a:r>
              <a:rPr b="1" lang="fr">
                <a:solidFill>
                  <a:schemeClr val="dk1"/>
                </a:solidFill>
                <a:latin typeface="Calibri"/>
                <a:ea typeface="Calibri"/>
                <a:cs typeface="Calibri"/>
                <a:sym typeface="Calibri"/>
              </a:rPr>
              <a:t>Solution 1  :</a:t>
            </a:r>
            <a:r>
              <a:rPr lang="fr">
                <a:solidFill>
                  <a:schemeClr val="dk1"/>
                </a:solidFill>
                <a:latin typeface="Calibri"/>
                <a:ea typeface="Calibri"/>
                <a:cs typeface="Calibri"/>
                <a:sym typeface="Calibri"/>
              </a:rPr>
              <a:t> </a:t>
            </a:r>
            <a:r>
              <a:rPr lang="fr">
                <a:solidFill>
                  <a:schemeClr val="dk1"/>
                </a:solidFill>
                <a:latin typeface="Calibri"/>
                <a:ea typeface="Calibri"/>
                <a:cs typeface="Calibri"/>
                <a:sym typeface="Calibri"/>
              </a:rPr>
              <a:t>Création de plusieurs Points d’accès avec segmentation. </a:t>
            </a:r>
            <a:endParaRPr>
              <a:solidFill>
                <a:schemeClr val="dk1"/>
              </a:solidFill>
              <a:latin typeface="Calibri"/>
              <a:ea typeface="Calibri"/>
              <a:cs typeface="Calibri"/>
              <a:sym typeface="Calibri"/>
            </a:endParaRPr>
          </a:p>
          <a:p>
            <a:pPr indent="0" lvl="0" marL="0" rtl="0" algn="l">
              <a:spcBef>
                <a:spcPts val="1200"/>
              </a:spcBef>
              <a:spcAft>
                <a:spcPts val="0"/>
              </a:spcAft>
              <a:buNone/>
            </a:pPr>
            <a:r>
              <a:t/>
            </a:r>
            <a:endParaRPr b="1">
              <a:solidFill>
                <a:schemeClr val="dk1"/>
              </a:solidFill>
              <a:latin typeface="Calibri"/>
              <a:ea typeface="Calibri"/>
              <a:cs typeface="Calibri"/>
              <a:sym typeface="Calibri"/>
            </a:endParaRPr>
          </a:p>
          <a:p>
            <a:pPr indent="0" lvl="0" marL="0" rtl="0" algn="l">
              <a:spcBef>
                <a:spcPts val="1200"/>
              </a:spcBef>
              <a:spcAft>
                <a:spcPts val="0"/>
              </a:spcAft>
              <a:buNone/>
            </a:pPr>
            <a:r>
              <a:rPr b="1" lang="fr">
                <a:solidFill>
                  <a:schemeClr val="dk1"/>
                </a:solidFill>
                <a:latin typeface="Calibri"/>
                <a:ea typeface="Calibri"/>
                <a:cs typeface="Calibri"/>
                <a:sym typeface="Calibri"/>
              </a:rPr>
              <a:t>Raison : </a:t>
            </a:r>
            <a:r>
              <a:rPr lang="fr">
                <a:solidFill>
                  <a:schemeClr val="dk1"/>
                </a:solidFill>
                <a:latin typeface="Calibri"/>
                <a:ea typeface="Calibri"/>
                <a:cs typeface="Calibri"/>
                <a:sym typeface="Calibri"/>
              </a:rPr>
              <a:t>Simplicité de mise en place et de gestion </a:t>
            </a:r>
            <a:endParaRPr>
              <a:solidFill>
                <a:schemeClr val="dk1"/>
              </a:solidFill>
              <a:latin typeface="Calibri"/>
              <a:ea typeface="Calibri"/>
              <a:cs typeface="Calibri"/>
              <a:sym typeface="Calibri"/>
            </a:endParaRPr>
          </a:p>
          <a:p>
            <a:pPr indent="0" lvl="0" marL="0" rtl="0" algn="l">
              <a:spcBef>
                <a:spcPts val="1200"/>
              </a:spcBef>
              <a:spcAft>
                <a:spcPts val="1200"/>
              </a:spcAft>
              <a:buNone/>
            </a:pPr>
            <a:r>
              <a:t/>
            </a:r>
            <a:endParaRPr>
              <a:solidFill>
                <a:schemeClr val="dk1"/>
              </a:solidFill>
              <a:latin typeface="Calibri"/>
              <a:ea typeface="Calibri"/>
              <a:cs typeface="Calibri"/>
              <a:sym typeface="Calibri"/>
            </a:endParaRPr>
          </a:p>
        </p:txBody>
      </p:sp>
      <p:sp>
        <p:nvSpPr>
          <p:cNvPr id="160" name="Google Shape;160;p2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t>Architecture</a:t>
            </a:r>
            <a:r>
              <a:rPr b="1" lang="fr"/>
              <a:t> réseau</a:t>
            </a:r>
            <a:endParaRPr b="1"/>
          </a:p>
        </p:txBody>
      </p:sp>
      <p:sp>
        <p:nvSpPr>
          <p:cNvPr id="166" name="Google Shape;166;p2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lnSpcReduction="20000"/>
          </a:bodyPr>
          <a:lstStyle/>
          <a:p>
            <a:pPr indent="0" lvl="0" marL="0" rtl="0" algn="l">
              <a:spcBef>
                <a:spcPts val="800"/>
              </a:spcBef>
              <a:spcAft>
                <a:spcPts val="0"/>
              </a:spcAft>
              <a:buNone/>
            </a:pPr>
            <a:r>
              <a:rPr lang="fr" sz="2000">
                <a:solidFill>
                  <a:schemeClr val="dk1"/>
                </a:solidFill>
                <a:latin typeface="Calibri"/>
                <a:ea typeface="Calibri"/>
                <a:cs typeface="Calibri"/>
                <a:sym typeface="Calibri"/>
              </a:rPr>
              <a:t>L'architecture réseau propose une séparation des VLANs entre les utilisateurs internes et externes, avec des règles strictes de sécurité. </a:t>
            </a:r>
            <a:endParaRPr sz="2000">
              <a:solidFill>
                <a:schemeClr val="dk1"/>
              </a:solidFill>
              <a:latin typeface="Calibri"/>
              <a:ea typeface="Calibri"/>
              <a:cs typeface="Calibri"/>
              <a:sym typeface="Calibri"/>
            </a:endParaRPr>
          </a:p>
          <a:p>
            <a:pPr indent="0" lvl="0" marL="0" rtl="0" algn="l">
              <a:spcBef>
                <a:spcPts val="800"/>
              </a:spcBef>
              <a:spcAft>
                <a:spcPts val="0"/>
              </a:spcAft>
              <a:buNone/>
            </a:pPr>
            <a:r>
              <a:t/>
            </a:r>
            <a:endParaRPr sz="2000">
              <a:solidFill>
                <a:schemeClr val="dk1"/>
              </a:solidFill>
              <a:latin typeface="Calibri"/>
              <a:ea typeface="Calibri"/>
              <a:cs typeface="Calibri"/>
              <a:sym typeface="Calibri"/>
            </a:endParaRPr>
          </a:p>
          <a:p>
            <a:pPr indent="0" lvl="0" marL="0" rtl="0" algn="l">
              <a:spcBef>
                <a:spcPts val="800"/>
              </a:spcBef>
              <a:spcAft>
                <a:spcPts val="0"/>
              </a:spcAft>
              <a:buNone/>
            </a:pPr>
            <a:r>
              <a:rPr lang="fr" sz="2000">
                <a:solidFill>
                  <a:schemeClr val="dk1"/>
                </a:solidFill>
                <a:latin typeface="Calibri"/>
                <a:ea typeface="Calibri"/>
                <a:cs typeface="Calibri"/>
                <a:sym typeface="Calibri"/>
              </a:rPr>
              <a:t>Le projet DYLAN nécessite une gestion dynamique des VLANs pour l'attribution basée sur les adresses MAC. </a:t>
            </a:r>
            <a:endParaRPr sz="2000">
              <a:solidFill>
                <a:schemeClr val="dk1"/>
              </a:solidFill>
              <a:latin typeface="Calibri"/>
              <a:ea typeface="Calibri"/>
              <a:cs typeface="Calibri"/>
              <a:sym typeface="Calibri"/>
            </a:endParaRPr>
          </a:p>
          <a:p>
            <a:pPr indent="0" lvl="0" marL="0" rtl="0" algn="l">
              <a:spcBef>
                <a:spcPts val="800"/>
              </a:spcBef>
              <a:spcAft>
                <a:spcPts val="0"/>
              </a:spcAft>
              <a:buNone/>
            </a:pPr>
            <a:r>
              <a:t/>
            </a:r>
            <a:endParaRPr sz="2000">
              <a:solidFill>
                <a:schemeClr val="dk1"/>
              </a:solidFill>
              <a:latin typeface="Calibri"/>
              <a:ea typeface="Calibri"/>
              <a:cs typeface="Calibri"/>
              <a:sym typeface="Calibri"/>
            </a:endParaRPr>
          </a:p>
          <a:p>
            <a:pPr indent="0" lvl="0" marL="0" rtl="0" algn="l">
              <a:spcBef>
                <a:spcPts val="800"/>
              </a:spcBef>
              <a:spcAft>
                <a:spcPts val="0"/>
              </a:spcAft>
              <a:buClr>
                <a:schemeClr val="dk1"/>
              </a:buClr>
              <a:buSzPts val="1100"/>
              <a:buFont typeface="Arial"/>
              <a:buNone/>
            </a:pPr>
            <a:r>
              <a:rPr lang="fr" sz="2000">
                <a:solidFill>
                  <a:schemeClr val="dk1"/>
                </a:solidFill>
                <a:latin typeface="Calibri"/>
                <a:ea typeface="Calibri"/>
                <a:cs typeface="Calibri"/>
                <a:sym typeface="Calibri"/>
              </a:rPr>
              <a:t>Le projet ASSIZ met en place une infrastructure Wi-Fi avec des Points d’accès distincts pour les invités et les organisateurs.</a:t>
            </a:r>
            <a:endParaRPr sz="2000">
              <a:solidFill>
                <a:schemeClr val="dk1"/>
              </a:solidFill>
              <a:latin typeface="Calibri"/>
              <a:ea typeface="Calibri"/>
              <a:cs typeface="Calibri"/>
              <a:sym typeface="Calibri"/>
            </a:endParaRPr>
          </a:p>
          <a:p>
            <a:pPr indent="0" lvl="0" marL="0" rtl="0" algn="l">
              <a:spcBef>
                <a:spcPts val="0"/>
              </a:spcBef>
              <a:spcAft>
                <a:spcPts val="1200"/>
              </a:spcAft>
              <a:buNone/>
            </a:pPr>
            <a:r>
              <a:t/>
            </a:r>
            <a:endParaRPr>
              <a:latin typeface="Calibri"/>
              <a:ea typeface="Calibri"/>
              <a:cs typeface="Calibri"/>
              <a:sym typeface="Calibri"/>
            </a:endParaRPr>
          </a:p>
        </p:txBody>
      </p:sp>
      <p:sp>
        <p:nvSpPr>
          <p:cNvPr id="167" name="Google Shape;167;p2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type="title"/>
          </p:nvPr>
        </p:nvSpPr>
        <p:spPr>
          <a:xfrm>
            <a:off x="253200" y="75000"/>
            <a:ext cx="4069800" cy="718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fr" sz="2200"/>
              <a:t>Annexe : Infrastructures Tests</a:t>
            </a:r>
            <a:endParaRPr b="1" sz="2200"/>
          </a:p>
        </p:txBody>
      </p:sp>
      <p:sp>
        <p:nvSpPr>
          <p:cNvPr id="173" name="Google Shape;173;p25"/>
          <p:cNvSpPr txBox="1"/>
          <p:nvPr/>
        </p:nvSpPr>
        <p:spPr>
          <a:xfrm>
            <a:off x="5537150" y="4397525"/>
            <a:ext cx="3153600" cy="2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600">
                <a:solidFill>
                  <a:schemeClr val="lt1"/>
                </a:solidFill>
              </a:rPr>
              <a:t>Mission 2 : projet Assiz</a:t>
            </a:r>
            <a:endParaRPr b="1" sz="1600">
              <a:solidFill>
                <a:schemeClr val="lt1"/>
              </a:solidFill>
            </a:endParaRPr>
          </a:p>
        </p:txBody>
      </p:sp>
      <p:pic>
        <p:nvPicPr>
          <p:cNvPr id="174" name="Google Shape;174;p25"/>
          <p:cNvPicPr preferRelativeResize="0"/>
          <p:nvPr/>
        </p:nvPicPr>
        <p:blipFill>
          <a:blip r:embed="rId3">
            <a:alphaModFix/>
          </a:blip>
          <a:stretch>
            <a:fillRect/>
          </a:stretch>
        </p:blipFill>
        <p:spPr>
          <a:xfrm>
            <a:off x="118775" y="977625"/>
            <a:ext cx="4338652" cy="3041111"/>
          </a:xfrm>
          <a:prstGeom prst="rect">
            <a:avLst/>
          </a:prstGeom>
          <a:noFill/>
          <a:ln>
            <a:noFill/>
          </a:ln>
        </p:spPr>
      </p:pic>
      <p:sp>
        <p:nvSpPr>
          <p:cNvPr id="175" name="Google Shape;175;p25"/>
          <p:cNvSpPr txBox="1"/>
          <p:nvPr/>
        </p:nvSpPr>
        <p:spPr>
          <a:xfrm>
            <a:off x="1143975" y="4397525"/>
            <a:ext cx="6263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500">
                <a:solidFill>
                  <a:schemeClr val="dk1"/>
                </a:solidFill>
              </a:rPr>
              <a:t>Mission 1 : projet DYLAN</a:t>
            </a:r>
            <a:endParaRPr b="1" sz="1500">
              <a:solidFill>
                <a:schemeClr val="dk1"/>
              </a:solidFill>
            </a:endParaRPr>
          </a:p>
        </p:txBody>
      </p:sp>
      <p:sp>
        <p:nvSpPr>
          <p:cNvPr id="176" name="Google Shape;176;p2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177" name="Google Shape;177;p25"/>
          <p:cNvPicPr preferRelativeResize="0"/>
          <p:nvPr/>
        </p:nvPicPr>
        <p:blipFill>
          <a:blip r:embed="rId4">
            <a:alphaModFix/>
          </a:blip>
          <a:stretch>
            <a:fillRect/>
          </a:stretch>
        </p:blipFill>
        <p:spPr>
          <a:xfrm>
            <a:off x="4800075" y="1236075"/>
            <a:ext cx="4176125" cy="2671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Technologies utilisées</a:t>
            </a:r>
            <a:endParaRPr b="1">
              <a:latin typeface="Montserrat"/>
              <a:ea typeface="Montserrat"/>
              <a:cs typeface="Montserrat"/>
              <a:sym typeface="Montserrat"/>
            </a:endParaRPr>
          </a:p>
        </p:txBody>
      </p:sp>
      <p:sp>
        <p:nvSpPr>
          <p:cNvPr id="183" name="Google Shape;183;p2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a:solidFill>
                  <a:schemeClr val="dk1"/>
                </a:solidFill>
                <a:latin typeface="Calibri"/>
                <a:ea typeface="Calibri"/>
                <a:cs typeface="Calibri"/>
                <a:sym typeface="Calibri"/>
              </a:rPr>
              <a:t>VLAN (</a:t>
            </a:r>
            <a:r>
              <a:rPr b="1" lang="fr">
                <a:solidFill>
                  <a:schemeClr val="dk1"/>
                </a:solidFill>
                <a:latin typeface="Calibri"/>
                <a:ea typeface="Calibri"/>
                <a:cs typeface="Calibri"/>
                <a:sym typeface="Calibri"/>
              </a:rPr>
              <a:t>Virtual Local Area Network) :</a:t>
            </a:r>
            <a:endParaRPr b="1">
              <a:solidFill>
                <a:schemeClr val="dk1"/>
              </a:solidFill>
              <a:latin typeface="Calibri"/>
              <a:ea typeface="Calibri"/>
              <a:cs typeface="Calibri"/>
              <a:sym typeface="Calibri"/>
            </a:endParaRPr>
          </a:p>
          <a:p>
            <a:pPr indent="0" lvl="0" marL="0" rtl="0" algn="l">
              <a:spcBef>
                <a:spcPts val="1200"/>
              </a:spcBef>
              <a:spcAft>
                <a:spcPts val="0"/>
              </a:spcAft>
              <a:buNone/>
            </a:pPr>
            <a:r>
              <a:rPr lang="fr">
                <a:solidFill>
                  <a:schemeClr val="dk1"/>
                </a:solidFill>
                <a:latin typeface="Calibri"/>
                <a:ea typeface="Calibri"/>
                <a:cs typeface="Calibri"/>
                <a:sym typeface="Calibri"/>
              </a:rPr>
              <a:t>Un </a:t>
            </a:r>
            <a:r>
              <a:rPr b="1" lang="fr">
                <a:solidFill>
                  <a:schemeClr val="dk1"/>
                </a:solidFill>
                <a:latin typeface="Calibri"/>
                <a:ea typeface="Calibri"/>
                <a:cs typeface="Calibri"/>
                <a:sym typeface="Calibri"/>
              </a:rPr>
              <a:t>VLAN</a:t>
            </a:r>
            <a:r>
              <a:rPr lang="fr">
                <a:solidFill>
                  <a:schemeClr val="dk1"/>
                </a:solidFill>
                <a:latin typeface="Calibri"/>
                <a:ea typeface="Calibri"/>
                <a:cs typeface="Calibri"/>
                <a:sym typeface="Calibri"/>
              </a:rPr>
              <a:t> est un </a:t>
            </a:r>
            <a:r>
              <a:rPr b="1" lang="fr">
                <a:solidFill>
                  <a:schemeClr val="dk1"/>
                </a:solidFill>
                <a:latin typeface="Calibri"/>
                <a:ea typeface="Calibri"/>
                <a:cs typeface="Calibri"/>
                <a:sym typeface="Calibri"/>
              </a:rPr>
              <a:t>réseau virtuel</a:t>
            </a:r>
            <a:r>
              <a:rPr lang="fr">
                <a:solidFill>
                  <a:schemeClr val="dk1"/>
                </a:solidFill>
                <a:latin typeface="Calibri"/>
                <a:ea typeface="Calibri"/>
                <a:cs typeface="Calibri"/>
                <a:sym typeface="Calibri"/>
              </a:rPr>
              <a:t> qui permet de séparer logiquement des appareils connectés au même réseau physique.</a:t>
            </a:r>
            <a:endParaRPr>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spcBef>
                <a:spcPts val="1200"/>
              </a:spcBef>
              <a:spcAft>
                <a:spcPts val="0"/>
              </a:spcAft>
              <a:buNone/>
            </a:pPr>
            <a:r>
              <a:rPr b="1" lang="fr">
                <a:solidFill>
                  <a:schemeClr val="dk1"/>
                </a:solidFill>
                <a:latin typeface="Calibri"/>
                <a:ea typeface="Calibri"/>
                <a:cs typeface="Calibri"/>
                <a:sym typeface="Calibri"/>
              </a:rPr>
              <a:t>Cisco Packet Tracer :</a:t>
            </a:r>
            <a:endParaRPr b="1">
              <a:solidFill>
                <a:schemeClr val="dk1"/>
              </a:solidFill>
              <a:latin typeface="Calibri"/>
              <a:ea typeface="Calibri"/>
              <a:cs typeface="Calibri"/>
              <a:sym typeface="Calibri"/>
            </a:endParaRPr>
          </a:p>
          <a:p>
            <a:pPr indent="0" lvl="0" marL="0" rtl="0" algn="l">
              <a:spcBef>
                <a:spcPts val="1200"/>
              </a:spcBef>
              <a:spcAft>
                <a:spcPts val="1200"/>
              </a:spcAft>
              <a:buNone/>
            </a:pPr>
            <a:r>
              <a:rPr lang="fr">
                <a:solidFill>
                  <a:schemeClr val="dk1"/>
                </a:solidFill>
                <a:latin typeface="Calibri"/>
                <a:ea typeface="Calibri"/>
                <a:cs typeface="Calibri"/>
                <a:sym typeface="Calibri"/>
              </a:rPr>
              <a:t>Logiciel de </a:t>
            </a:r>
            <a:r>
              <a:rPr b="1" lang="fr">
                <a:solidFill>
                  <a:schemeClr val="dk1"/>
                </a:solidFill>
                <a:latin typeface="Calibri"/>
                <a:ea typeface="Calibri"/>
                <a:cs typeface="Calibri"/>
                <a:sym typeface="Calibri"/>
              </a:rPr>
              <a:t>simulation de réseaux</a:t>
            </a:r>
            <a:r>
              <a:rPr lang="fr">
                <a:solidFill>
                  <a:schemeClr val="dk1"/>
                </a:solidFill>
                <a:latin typeface="Calibri"/>
                <a:ea typeface="Calibri"/>
                <a:cs typeface="Calibri"/>
                <a:sym typeface="Calibri"/>
              </a:rPr>
              <a:t> informatiques, il permettra de mettre en place une </a:t>
            </a:r>
            <a:r>
              <a:rPr b="1" lang="fr">
                <a:solidFill>
                  <a:schemeClr val="dk1"/>
                </a:solidFill>
                <a:latin typeface="Calibri"/>
                <a:ea typeface="Calibri"/>
                <a:cs typeface="Calibri"/>
                <a:sym typeface="Calibri"/>
              </a:rPr>
              <a:t>infrastructure réseau</a:t>
            </a:r>
            <a:r>
              <a:rPr lang="fr">
                <a:solidFill>
                  <a:schemeClr val="dk1"/>
                </a:solidFill>
                <a:latin typeface="Calibri"/>
                <a:ea typeface="Calibri"/>
                <a:cs typeface="Calibri"/>
                <a:sym typeface="Calibri"/>
              </a:rPr>
              <a:t> conforme aux </a:t>
            </a:r>
            <a:r>
              <a:rPr b="1" lang="fr">
                <a:solidFill>
                  <a:schemeClr val="dk1"/>
                </a:solidFill>
                <a:latin typeface="Calibri"/>
                <a:ea typeface="Calibri"/>
                <a:cs typeface="Calibri"/>
                <a:sym typeface="Calibri"/>
              </a:rPr>
              <a:t>besoins</a:t>
            </a:r>
            <a:r>
              <a:rPr lang="fr">
                <a:solidFill>
                  <a:schemeClr val="dk1"/>
                </a:solidFill>
                <a:latin typeface="Calibri"/>
                <a:ea typeface="Calibri"/>
                <a:cs typeface="Calibri"/>
                <a:sym typeface="Calibri"/>
              </a:rPr>
              <a:t> des projets.</a:t>
            </a:r>
            <a:endParaRPr>
              <a:solidFill>
                <a:schemeClr val="dk1"/>
              </a:solidFill>
              <a:latin typeface="Calibri"/>
              <a:ea typeface="Calibri"/>
              <a:cs typeface="Calibri"/>
              <a:sym typeface="Calibri"/>
            </a:endParaRPr>
          </a:p>
        </p:txBody>
      </p:sp>
      <p:sp>
        <p:nvSpPr>
          <p:cNvPr id="184" name="Google Shape;184;p2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Services impliqués </a:t>
            </a:r>
            <a:endParaRPr b="1">
              <a:latin typeface="Montserrat"/>
              <a:ea typeface="Montserrat"/>
              <a:cs typeface="Montserrat"/>
              <a:sym typeface="Montserrat"/>
            </a:endParaRPr>
          </a:p>
        </p:txBody>
      </p:sp>
      <p:sp>
        <p:nvSpPr>
          <p:cNvPr id="190" name="Google Shape;190;p2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800"/>
              </a:spcBef>
              <a:spcAft>
                <a:spcPts val="0"/>
              </a:spcAft>
              <a:buClr>
                <a:schemeClr val="dk1"/>
              </a:buClr>
              <a:buSzPts val="1100"/>
              <a:buFont typeface="Arial"/>
              <a:buNone/>
            </a:pPr>
            <a:r>
              <a:t/>
            </a:r>
            <a:endParaRPr sz="1858">
              <a:solidFill>
                <a:schemeClr val="dk1"/>
              </a:solidFill>
              <a:latin typeface="Calibri"/>
              <a:ea typeface="Calibri"/>
              <a:cs typeface="Calibri"/>
              <a:sym typeface="Calibri"/>
            </a:endParaRPr>
          </a:p>
          <a:p>
            <a:pPr indent="0" lvl="0" marL="0" rtl="0" algn="l">
              <a:spcBef>
                <a:spcPts val="800"/>
              </a:spcBef>
              <a:spcAft>
                <a:spcPts val="0"/>
              </a:spcAft>
              <a:buClr>
                <a:schemeClr val="dk1"/>
              </a:buClr>
              <a:buSzPts val="1100"/>
              <a:buFont typeface="Arial"/>
              <a:buNone/>
            </a:pPr>
            <a:r>
              <a:rPr lang="fr" sz="1858">
                <a:solidFill>
                  <a:schemeClr val="dk1"/>
                </a:solidFill>
                <a:latin typeface="Calibri"/>
                <a:ea typeface="Calibri"/>
                <a:cs typeface="Calibri"/>
                <a:sym typeface="Calibri"/>
              </a:rPr>
              <a:t>Les services informatiques de la M2L seront responsables de la configuration des VLANs, de la mise en place des points d'accès Wi-Fi et de la gestion de la sécurité.</a:t>
            </a:r>
            <a:endParaRPr sz="1858">
              <a:solidFill>
                <a:schemeClr val="dk1"/>
              </a:solidFill>
              <a:latin typeface="Calibri"/>
              <a:ea typeface="Calibri"/>
              <a:cs typeface="Calibri"/>
              <a:sym typeface="Calibri"/>
            </a:endParaRPr>
          </a:p>
          <a:p>
            <a:pPr indent="0" lvl="0" marL="0" rtl="0" algn="l">
              <a:spcBef>
                <a:spcPts val="800"/>
              </a:spcBef>
              <a:spcAft>
                <a:spcPts val="0"/>
              </a:spcAft>
              <a:buNone/>
            </a:pPr>
            <a:r>
              <a:t/>
            </a:r>
            <a:endParaRPr sz="1858">
              <a:solidFill>
                <a:schemeClr val="dk1"/>
              </a:solidFill>
              <a:latin typeface="Calibri"/>
              <a:ea typeface="Calibri"/>
              <a:cs typeface="Calibri"/>
              <a:sym typeface="Calibri"/>
            </a:endParaRPr>
          </a:p>
          <a:p>
            <a:pPr indent="0" lvl="0" marL="0" rtl="0" algn="l">
              <a:spcBef>
                <a:spcPts val="800"/>
              </a:spcBef>
              <a:spcAft>
                <a:spcPts val="0"/>
              </a:spcAft>
              <a:buNone/>
            </a:pPr>
            <a:r>
              <a:rPr lang="fr" sz="1858">
                <a:solidFill>
                  <a:schemeClr val="dk1"/>
                </a:solidFill>
                <a:latin typeface="Calibri"/>
                <a:ea typeface="Calibri"/>
                <a:cs typeface="Calibri"/>
                <a:sym typeface="Calibri"/>
              </a:rPr>
              <a:t>Les administrateurs réseau géreront la simulation dans Cisco Packet Tracer et vont </a:t>
            </a:r>
            <a:r>
              <a:rPr lang="fr" sz="1858">
                <a:solidFill>
                  <a:schemeClr val="dk1"/>
                </a:solidFill>
                <a:latin typeface="Calibri"/>
                <a:ea typeface="Calibri"/>
                <a:cs typeface="Calibri"/>
                <a:sym typeface="Calibri"/>
              </a:rPr>
              <a:t>superviser</a:t>
            </a:r>
            <a:r>
              <a:rPr lang="fr" sz="1858">
                <a:solidFill>
                  <a:schemeClr val="dk1"/>
                </a:solidFill>
                <a:latin typeface="Calibri"/>
                <a:ea typeface="Calibri"/>
                <a:cs typeface="Calibri"/>
                <a:sym typeface="Calibri"/>
              </a:rPr>
              <a:t> la mise en œuvre des solutions.</a:t>
            </a:r>
            <a:endParaRPr>
              <a:latin typeface="Calibri"/>
              <a:ea typeface="Calibri"/>
              <a:cs typeface="Calibri"/>
              <a:sym typeface="Calibri"/>
            </a:endParaRPr>
          </a:p>
        </p:txBody>
      </p:sp>
      <p:sp>
        <p:nvSpPr>
          <p:cNvPr id="191" name="Google Shape;191;p2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Sécurité</a:t>
            </a:r>
            <a:endParaRPr b="1">
              <a:latin typeface="Montserrat"/>
              <a:ea typeface="Montserrat"/>
              <a:cs typeface="Montserrat"/>
              <a:sym typeface="Montserrat"/>
            </a:endParaRPr>
          </a:p>
        </p:txBody>
      </p:sp>
      <p:sp>
        <p:nvSpPr>
          <p:cNvPr id="197" name="Google Shape;197;p2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solidFill>
                  <a:schemeClr val="dk1"/>
                </a:solidFill>
                <a:latin typeface="Calibri"/>
                <a:ea typeface="Calibri"/>
                <a:cs typeface="Calibri"/>
                <a:sym typeface="Calibri"/>
              </a:rPr>
              <a:t>Projet ASSIZ : Mise en place d’un firewall et d’un filtrage d’accès </a:t>
            </a:r>
            <a:endParaRPr>
              <a:solidFill>
                <a:schemeClr val="dk1"/>
              </a:solidFill>
              <a:latin typeface="Calibri"/>
              <a:ea typeface="Calibri"/>
              <a:cs typeface="Calibri"/>
              <a:sym typeface="Calibri"/>
            </a:endParaRPr>
          </a:p>
          <a:p>
            <a:pPr indent="-342900" lvl="0" marL="457200" rtl="0" algn="l">
              <a:spcBef>
                <a:spcPts val="1200"/>
              </a:spcBef>
              <a:spcAft>
                <a:spcPts val="0"/>
              </a:spcAft>
              <a:buClr>
                <a:schemeClr val="dk1"/>
              </a:buClr>
              <a:buSzPts val="1800"/>
              <a:buFont typeface="Calibri"/>
              <a:buChar char="-"/>
            </a:pPr>
            <a:r>
              <a:rPr lang="fr">
                <a:solidFill>
                  <a:schemeClr val="dk1"/>
                </a:solidFill>
                <a:latin typeface="Calibri"/>
                <a:ea typeface="Calibri"/>
                <a:cs typeface="Calibri"/>
                <a:sym typeface="Calibri"/>
              </a:rPr>
              <a:t>Installer un </a:t>
            </a:r>
            <a:r>
              <a:rPr lang="fr">
                <a:solidFill>
                  <a:schemeClr val="dk1"/>
                </a:solidFill>
                <a:latin typeface="Calibri"/>
                <a:ea typeface="Calibri"/>
                <a:cs typeface="Calibri"/>
                <a:sym typeface="Calibri"/>
              </a:rPr>
              <a:t>Pare Feu</a:t>
            </a:r>
            <a:r>
              <a:rPr lang="fr">
                <a:solidFill>
                  <a:schemeClr val="dk1"/>
                </a:solidFill>
                <a:latin typeface="Calibri"/>
                <a:ea typeface="Calibri"/>
                <a:cs typeface="Calibri"/>
                <a:sym typeface="Calibri"/>
              </a:rPr>
              <a:t> pour bloquer les connexions non autorisés entre le réseau wifi et internet</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fr">
                <a:solidFill>
                  <a:schemeClr val="dk1"/>
                </a:solidFill>
                <a:latin typeface="Calibri"/>
                <a:ea typeface="Calibri"/>
                <a:cs typeface="Calibri"/>
                <a:sym typeface="Calibri"/>
              </a:rPr>
              <a:t>Projet DYLAN : Authentification 802.1X avec un serveur Radius</a:t>
            </a:r>
            <a:endParaRPr>
              <a:solidFill>
                <a:schemeClr val="dk1"/>
              </a:solidFill>
              <a:latin typeface="Calibri"/>
              <a:ea typeface="Calibri"/>
              <a:cs typeface="Calibri"/>
              <a:sym typeface="Calibri"/>
            </a:endParaRPr>
          </a:p>
          <a:p>
            <a:pPr indent="-342900" lvl="0" marL="457200" rtl="0" algn="l">
              <a:spcBef>
                <a:spcPts val="1200"/>
              </a:spcBef>
              <a:spcAft>
                <a:spcPts val="0"/>
              </a:spcAft>
              <a:buClr>
                <a:schemeClr val="dk1"/>
              </a:buClr>
              <a:buSzPts val="1800"/>
              <a:buFont typeface="Calibri"/>
              <a:buChar char="-"/>
            </a:pPr>
            <a:r>
              <a:rPr lang="fr">
                <a:solidFill>
                  <a:schemeClr val="dk1"/>
                </a:solidFill>
                <a:latin typeface="Calibri"/>
                <a:ea typeface="Calibri"/>
                <a:cs typeface="Calibri"/>
                <a:sym typeface="Calibri"/>
              </a:rPr>
              <a:t>Utiliser le protocole 802.1X pour authentifier les pc portable</a:t>
            </a:r>
            <a:endParaRPr>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fr">
                <a:solidFill>
                  <a:schemeClr val="dk1"/>
                </a:solidFill>
                <a:latin typeface="Calibri"/>
                <a:ea typeface="Calibri"/>
                <a:cs typeface="Calibri"/>
                <a:sym typeface="Calibri"/>
              </a:rPr>
              <a:t>Mettre en place un serveur Radius qui vérifie les identifiants des utilisateurs</a:t>
            </a:r>
            <a:endParaRPr>
              <a:solidFill>
                <a:schemeClr val="dk1"/>
              </a:solidFill>
              <a:latin typeface="Calibri"/>
              <a:ea typeface="Calibri"/>
              <a:cs typeface="Calibri"/>
              <a:sym typeface="Calibri"/>
            </a:endParaRPr>
          </a:p>
          <a:p>
            <a:pPr indent="0" lvl="0" marL="0" rtl="0" algn="l">
              <a:spcBef>
                <a:spcPts val="1200"/>
              </a:spcBef>
              <a:spcAft>
                <a:spcPts val="1200"/>
              </a:spcAft>
              <a:buNone/>
            </a:pPr>
            <a:r>
              <a:t/>
            </a:r>
            <a:endParaRPr>
              <a:latin typeface="Calibri"/>
              <a:ea typeface="Calibri"/>
              <a:cs typeface="Calibri"/>
              <a:sym typeface="Calibri"/>
            </a:endParaRPr>
          </a:p>
        </p:txBody>
      </p:sp>
      <p:sp>
        <p:nvSpPr>
          <p:cNvPr id="198" name="Google Shape;198;p2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Estimations</a:t>
            </a:r>
            <a:endParaRPr b="1">
              <a:latin typeface="Montserrat"/>
              <a:ea typeface="Montserrat"/>
              <a:cs typeface="Montserrat"/>
              <a:sym typeface="Montserrat"/>
            </a:endParaRPr>
          </a:p>
        </p:txBody>
      </p:sp>
      <p:sp>
        <p:nvSpPr>
          <p:cNvPr id="204" name="Google Shape;204;p2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pic>
        <p:nvPicPr>
          <p:cNvPr id="205" name="Google Shape;205;p29"/>
          <p:cNvPicPr preferRelativeResize="0"/>
          <p:nvPr/>
        </p:nvPicPr>
        <p:blipFill>
          <a:blip r:embed="rId3">
            <a:alphaModFix/>
          </a:blip>
          <a:stretch>
            <a:fillRect/>
          </a:stretch>
        </p:blipFill>
        <p:spPr>
          <a:xfrm>
            <a:off x="260225" y="470325"/>
            <a:ext cx="2987026" cy="4202850"/>
          </a:xfrm>
          <a:prstGeom prst="rect">
            <a:avLst/>
          </a:prstGeom>
          <a:noFill/>
          <a:ln>
            <a:noFill/>
          </a:ln>
        </p:spPr>
      </p:pic>
      <p:pic>
        <p:nvPicPr>
          <p:cNvPr id="206" name="Google Shape;206;p29"/>
          <p:cNvPicPr preferRelativeResize="0"/>
          <p:nvPr/>
        </p:nvPicPr>
        <p:blipFill>
          <a:blip r:embed="rId4">
            <a:alphaModFix/>
          </a:blip>
          <a:stretch>
            <a:fillRect/>
          </a:stretch>
        </p:blipFill>
        <p:spPr>
          <a:xfrm>
            <a:off x="5973500" y="582300"/>
            <a:ext cx="2987026" cy="397889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Répartition des tâches</a:t>
            </a:r>
            <a:endParaRPr b="1">
              <a:latin typeface="Montserrat"/>
              <a:ea typeface="Montserrat"/>
              <a:cs typeface="Montserrat"/>
              <a:sym typeface="Montserrat"/>
            </a:endParaRPr>
          </a:p>
        </p:txBody>
      </p:sp>
      <p:sp>
        <p:nvSpPr>
          <p:cNvPr id="212" name="Google Shape;212;p3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fr">
                <a:solidFill>
                  <a:schemeClr val="dk1"/>
                </a:solidFill>
                <a:latin typeface="Calibri"/>
                <a:ea typeface="Calibri"/>
                <a:cs typeface="Calibri"/>
                <a:sym typeface="Calibri"/>
              </a:rPr>
              <a:t>Sasha : Responsable infrastructure Réseau</a:t>
            </a:r>
            <a:endParaRPr>
              <a:solidFill>
                <a:schemeClr val="dk1"/>
              </a:solidFill>
              <a:latin typeface="Calibri"/>
              <a:ea typeface="Calibri"/>
              <a:cs typeface="Calibri"/>
              <a:sym typeface="Calibri"/>
            </a:endParaRPr>
          </a:p>
          <a:p>
            <a:pPr indent="0" lvl="0" marL="0" rtl="0" algn="l">
              <a:spcBef>
                <a:spcPts val="1200"/>
              </a:spcBef>
              <a:spcAft>
                <a:spcPts val="0"/>
              </a:spcAft>
              <a:buNone/>
            </a:pPr>
            <a:r>
              <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fr">
                <a:solidFill>
                  <a:schemeClr val="dk1"/>
                </a:solidFill>
                <a:latin typeface="Calibri"/>
                <a:ea typeface="Calibri"/>
                <a:cs typeface="Calibri"/>
                <a:sym typeface="Calibri"/>
              </a:rPr>
              <a:t>Mehdi : Responsable sécurité et administration</a:t>
            </a:r>
            <a:endParaRPr>
              <a:solidFill>
                <a:schemeClr val="dk1"/>
              </a:solidFill>
              <a:latin typeface="Calibri"/>
              <a:ea typeface="Calibri"/>
              <a:cs typeface="Calibri"/>
              <a:sym typeface="Calibri"/>
            </a:endParaRPr>
          </a:p>
          <a:p>
            <a:pPr indent="0" lvl="0" marL="0" rtl="0" algn="l">
              <a:spcBef>
                <a:spcPts val="1200"/>
              </a:spcBef>
              <a:spcAft>
                <a:spcPts val="0"/>
              </a:spcAft>
              <a:buNone/>
            </a:pPr>
            <a:r>
              <a:t/>
            </a:r>
            <a:endParaRPr>
              <a:solidFill>
                <a:schemeClr val="dk1"/>
              </a:solidFill>
              <a:latin typeface="Calibri"/>
              <a:ea typeface="Calibri"/>
              <a:cs typeface="Calibri"/>
              <a:sym typeface="Calibri"/>
            </a:endParaRPr>
          </a:p>
          <a:p>
            <a:pPr indent="0" lvl="0" marL="0" rtl="0" algn="l">
              <a:spcBef>
                <a:spcPts val="1200"/>
              </a:spcBef>
              <a:spcAft>
                <a:spcPts val="1200"/>
              </a:spcAft>
              <a:buNone/>
            </a:pPr>
            <a:r>
              <a:rPr lang="fr">
                <a:solidFill>
                  <a:schemeClr val="dk1"/>
                </a:solidFill>
                <a:latin typeface="Calibri"/>
                <a:ea typeface="Calibri"/>
                <a:cs typeface="Calibri"/>
                <a:sym typeface="Calibri"/>
              </a:rPr>
              <a:t>Ali : Responsable Documentations et Tests</a:t>
            </a:r>
            <a:endParaRPr>
              <a:solidFill>
                <a:schemeClr val="dk1"/>
              </a:solidFill>
              <a:latin typeface="Calibri"/>
              <a:ea typeface="Calibri"/>
              <a:cs typeface="Calibri"/>
              <a:sym typeface="Calibri"/>
            </a:endParaRPr>
          </a:p>
        </p:txBody>
      </p:sp>
      <p:sp>
        <p:nvSpPr>
          <p:cNvPr id="213" name="Google Shape;213;p3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Difficultés </a:t>
            </a:r>
            <a:endParaRPr b="1">
              <a:latin typeface="Montserrat"/>
              <a:ea typeface="Montserrat"/>
              <a:cs typeface="Montserrat"/>
              <a:sym typeface="Montserrat"/>
            </a:endParaRPr>
          </a:p>
        </p:txBody>
      </p:sp>
      <p:sp>
        <p:nvSpPr>
          <p:cNvPr id="219" name="Google Shape;219;p3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fr">
                <a:solidFill>
                  <a:schemeClr val="dk1"/>
                </a:solidFill>
                <a:latin typeface="Calibri"/>
                <a:ea typeface="Calibri"/>
                <a:cs typeface="Calibri"/>
                <a:sym typeface="Calibri"/>
              </a:rPr>
              <a:t>Difficultés sur le projet ASSIZ :</a:t>
            </a:r>
            <a:r>
              <a:rPr lang="fr">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fr">
                <a:solidFill>
                  <a:schemeClr val="dk1"/>
                </a:solidFill>
                <a:latin typeface="Calibri"/>
                <a:ea typeface="Calibri"/>
                <a:cs typeface="Calibri"/>
                <a:sym typeface="Calibri"/>
              </a:rPr>
              <a:t>Des interférences peuvent se produire à cause de l'augmentation du nombre de SSID et de la concentration des connexions simultanées. Cela peut affecter la qualité du signal WiFi, notamment sur la fréquence 2,4 GHz qui offre une plus grande portée mais est aussi plus susceptible d'être congestionnée et de rencontrer des problèmes de canaux, ce qui rend la connexion moins fiable.</a:t>
            </a:r>
            <a:endParaRPr>
              <a:solidFill>
                <a:schemeClr val="dk1"/>
              </a:solidFill>
              <a:latin typeface="Calibri"/>
              <a:ea typeface="Calibri"/>
              <a:cs typeface="Calibri"/>
              <a:sym typeface="Calibri"/>
            </a:endParaRPr>
          </a:p>
          <a:p>
            <a:pPr indent="0" lvl="0" marL="0" rtl="0" algn="l">
              <a:spcBef>
                <a:spcPts val="1200"/>
              </a:spcBef>
              <a:spcAft>
                <a:spcPts val="0"/>
              </a:spcAft>
              <a:buNone/>
            </a:pPr>
            <a:r>
              <a:t/>
            </a:r>
            <a:endParaRPr b="1">
              <a:solidFill>
                <a:schemeClr val="dk1"/>
              </a:solidFill>
              <a:latin typeface="Calibri"/>
              <a:ea typeface="Calibri"/>
              <a:cs typeface="Calibri"/>
              <a:sym typeface="Calibri"/>
            </a:endParaRPr>
          </a:p>
          <a:p>
            <a:pPr indent="0" lvl="0" marL="0" rtl="0" algn="l">
              <a:spcBef>
                <a:spcPts val="1200"/>
              </a:spcBef>
              <a:spcAft>
                <a:spcPts val="0"/>
              </a:spcAft>
              <a:buNone/>
            </a:pPr>
            <a:r>
              <a:rPr b="1" lang="fr">
                <a:solidFill>
                  <a:schemeClr val="dk1"/>
                </a:solidFill>
                <a:latin typeface="Calibri"/>
                <a:ea typeface="Calibri"/>
                <a:cs typeface="Calibri"/>
                <a:sym typeface="Calibri"/>
              </a:rPr>
              <a:t>D</a:t>
            </a:r>
            <a:r>
              <a:rPr b="1" lang="fr">
                <a:solidFill>
                  <a:schemeClr val="dk1"/>
                </a:solidFill>
                <a:latin typeface="Calibri"/>
                <a:ea typeface="Calibri"/>
                <a:cs typeface="Calibri"/>
                <a:sym typeface="Calibri"/>
              </a:rPr>
              <a:t>ifficultés</a:t>
            </a:r>
            <a:r>
              <a:rPr b="1" lang="fr">
                <a:solidFill>
                  <a:schemeClr val="dk1"/>
                </a:solidFill>
                <a:latin typeface="Calibri"/>
                <a:ea typeface="Calibri"/>
                <a:cs typeface="Calibri"/>
                <a:sym typeface="Calibri"/>
              </a:rPr>
              <a:t> sur le projet DYLAN :</a:t>
            </a:r>
            <a:r>
              <a:rPr lang="fr">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fr">
                <a:solidFill>
                  <a:schemeClr val="dk1"/>
                </a:solidFill>
                <a:latin typeface="Calibri"/>
                <a:ea typeface="Calibri"/>
                <a:cs typeface="Calibri"/>
                <a:sym typeface="Calibri"/>
              </a:rPr>
              <a:t>Assurer une transition fluide des PC portables vers le VLAN approprié en fonction des connexions fréquentes peut aussi compliquer la réalisation du projet.</a:t>
            </a:r>
            <a:endParaRPr>
              <a:solidFill>
                <a:schemeClr val="dk1"/>
              </a:solidFill>
              <a:latin typeface="Calibri"/>
              <a:ea typeface="Calibri"/>
              <a:cs typeface="Calibri"/>
              <a:sym typeface="Calibri"/>
            </a:endParaRPr>
          </a:p>
          <a:p>
            <a:pPr indent="0" lvl="0" marL="0" rtl="0" algn="l">
              <a:spcBef>
                <a:spcPts val="1200"/>
              </a:spcBef>
              <a:spcAft>
                <a:spcPts val="1200"/>
              </a:spcAft>
              <a:buNone/>
            </a:pPr>
            <a:r>
              <a:rPr lang="fr">
                <a:solidFill>
                  <a:schemeClr val="dk1"/>
                </a:solidFill>
                <a:latin typeface="Calibri"/>
                <a:ea typeface="Calibri"/>
                <a:cs typeface="Calibri"/>
                <a:sym typeface="Calibri"/>
              </a:rPr>
              <a:t>Sur Cisco on ne peut pas faire de VLAN MAC-based à cause des switch non compatibles.</a:t>
            </a:r>
            <a:endParaRPr sz="1500">
              <a:solidFill>
                <a:schemeClr val="dk1"/>
              </a:solidFill>
              <a:latin typeface="Calibri"/>
              <a:ea typeface="Calibri"/>
              <a:cs typeface="Calibri"/>
              <a:sym typeface="Calibri"/>
            </a:endParaRPr>
          </a:p>
        </p:txBody>
      </p:sp>
      <p:sp>
        <p:nvSpPr>
          <p:cNvPr id="220" name="Google Shape;220;p3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Compétences utilisées</a:t>
            </a:r>
            <a:endParaRPr b="1">
              <a:latin typeface="Montserrat"/>
              <a:ea typeface="Montserrat"/>
              <a:cs typeface="Montserrat"/>
              <a:sym typeface="Montserrat"/>
            </a:endParaRPr>
          </a:p>
        </p:txBody>
      </p:sp>
      <p:sp>
        <p:nvSpPr>
          <p:cNvPr id="226" name="Google Shape;226;p3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lnSpcReduction="20000"/>
          </a:bodyPr>
          <a:lstStyle/>
          <a:p>
            <a:pPr indent="0" lvl="0" marL="0" rtl="0" algn="l">
              <a:spcBef>
                <a:spcPts val="800"/>
              </a:spcBef>
              <a:spcAft>
                <a:spcPts val="0"/>
              </a:spcAft>
              <a:buClr>
                <a:schemeClr val="dk1"/>
              </a:buClr>
              <a:buSzPts val="1100"/>
              <a:buFont typeface="Arial"/>
              <a:buNone/>
            </a:pPr>
            <a:r>
              <a:rPr lang="fr" sz="2100">
                <a:solidFill>
                  <a:schemeClr val="dk1"/>
                </a:solidFill>
                <a:latin typeface="Calibri"/>
                <a:ea typeface="Calibri"/>
                <a:cs typeface="Calibri"/>
                <a:sym typeface="Calibri"/>
              </a:rPr>
              <a:t>Réseaux informatiques : Gestion des VLANs et des protocoles de sécurité.</a:t>
            </a:r>
            <a:endParaRPr sz="2100">
              <a:solidFill>
                <a:schemeClr val="dk1"/>
              </a:solidFill>
              <a:latin typeface="Calibri"/>
              <a:ea typeface="Calibri"/>
              <a:cs typeface="Calibri"/>
              <a:sym typeface="Calibri"/>
            </a:endParaRPr>
          </a:p>
          <a:p>
            <a:pPr indent="0" lvl="0" marL="0" rtl="0" algn="l">
              <a:spcBef>
                <a:spcPts val="800"/>
              </a:spcBef>
              <a:spcAft>
                <a:spcPts val="0"/>
              </a:spcAft>
              <a:buNone/>
            </a:pPr>
            <a:r>
              <a:t/>
            </a:r>
            <a:endParaRPr sz="2100">
              <a:solidFill>
                <a:schemeClr val="dk1"/>
              </a:solidFill>
              <a:latin typeface="Calibri"/>
              <a:ea typeface="Calibri"/>
              <a:cs typeface="Calibri"/>
              <a:sym typeface="Calibri"/>
            </a:endParaRPr>
          </a:p>
          <a:p>
            <a:pPr indent="0" lvl="0" marL="0" rtl="0" algn="l">
              <a:spcBef>
                <a:spcPts val="800"/>
              </a:spcBef>
              <a:spcAft>
                <a:spcPts val="0"/>
              </a:spcAft>
              <a:buClr>
                <a:schemeClr val="dk1"/>
              </a:buClr>
              <a:buSzPts val="1100"/>
              <a:buFont typeface="Arial"/>
              <a:buNone/>
            </a:pPr>
            <a:r>
              <a:rPr lang="fr" sz="2100">
                <a:solidFill>
                  <a:schemeClr val="dk1"/>
                </a:solidFill>
                <a:latin typeface="Calibri"/>
                <a:ea typeface="Calibri"/>
                <a:cs typeface="Calibri"/>
                <a:sym typeface="Calibri"/>
              </a:rPr>
              <a:t>Configuration Wi-Fi : Optimisation des bornes Wi-Fi et gestion des accès.</a:t>
            </a:r>
            <a:endParaRPr sz="2100">
              <a:solidFill>
                <a:schemeClr val="dk1"/>
              </a:solidFill>
              <a:latin typeface="Calibri"/>
              <a:ea typeface="Calibri"/>
              <a:cs typeface="Calibri"/>
              <a:sym typeface="Calibri"/>
            </a:endParaRPr>
          </a:p>
          <a:p>
            <a:pPr indent="0" lvl="0" marL="0" rtl="0" algn="l">
              <a:spcBef>
                <a:spcPts val="800"/>
              </a:spcBef>
              <a:spcAft>
                <a:spcPts val="0"/>
              </a:spcAft>
              <a:buNone/>
            </a:pPr>
            <a:r>
              <a:t/>
            </a:r>
            <a:endParaRPr sz="2100">
              <a:solidFill>
                <a:schemeClr val="dk1"/>
              </a:solidFill>
              <a:latin typeface="Calibri"/>
              <a:ea typeface="Calibri"/>
              <a:cs typeface="Calibri"/>
              <a:sym typeface="Calibri"/>
            </a:endParaRPr>
          </a:p>
          <a:p>
            <a:pPr indent="0" lvl="0" marL="0" rtl="0" algn="l">
              <a:spcBef>
                <a:spcPts val="800"/>
              </a:spcBef>
              <a:spcAft>
                <a:spcPts val="0"/>
              </a:spcAft>
              <a:buClr>
                <a:schemeClr val="dk1"/>
              </a:buClr>
              <a:buSzPts val="1100"/>
              <a:buFont typeface="Arial"/>
              <a:buNone/>
            </a:pPr>
            <a:r>
              <a:rPr lang="fr" sz="2100">
                <a:solidFill>
                  <a:schemeClr val="dk1"/>
                </a:solidFill>
                <a:latin typeface="Calibri"/>
                <a:ea typeface="Calibri"/>
                <a:cs typeface="Calibri"/>
                <a:sym typeface="Calibri"/>
              </a:rPr>
              <a:t>Outils de simulation : Maîtrise de Cisco Packet Tracer.</a:t>
            </a:r>
            <a:endParaRPr sz="2100">
              <a:solidFill>
                <a:schemeClr val="dk1"/>
              </a:solidFill>
              <a:latin typeface="Calibri"/>
              <a:ea typeface="Calibri"/>
              <a:cs typeface="Calibri"/>
              <a:sym typeface="Calibri"/>
            </a:endParaRPr>
          </a:p>
          <a:p>
            <a:pPr indent="0" lvl="0" marL="0" rtl="0" algn="l">
              <a:spcBef>
                <a:spcPts val="800"/>
              </a:spcBef>
              <a:spcAft>
                <a:spcPts val="0"/>
              </a:spcAft>
              <a:buNone/>
            </a:pPr>
            <a:r>
              <a:t/>
            </a:r>
            <a:endParaRPr sz="2100">
              <a:solidFill>
                <a:schemeClr val="dk1"/>
              </a:solidFill>
              <a:latin typeface="Calibri"/>
              <a:ea typeface="Calibri"/>
              <a:cs typeface="Calibri"/>
              <a:sym typeface="Calibri"/>
            </a:endParaRPr>
          </a:p>
          <a:p>
            <a:pPr indent="0" lvl="0" marL="0" rtl="0" algn="l">
              <a:spcBef>
                <a:spcPts val="800"/>
              </a:spcBef>
              <a:spcAft>
                <a:spcPts val="0"/>
              </a:spcAft>
              <a:buClr>
                <a:schemeClr val="dk1"/>
              </a:buClr>
              <a:buSzPts val="1100"/>
              <a:buFont typeface="Arial"/>
              <a:buNone/>
            </a:pPr>
            <a:r>
              <a:rPr lang="fr" sz="2100">
                <a:solidFill>
                  <a:schemeClr val="dk1"/>
                </a:solidFill>
                <a:latin typeface="Calibri"/>
                <a:ea typeface="Calibri"/>
                <a:cs typeface="Calibri"/>
                <a:sym typeface="Calibri"/>
              </a:rPr>
              <a:t>Gestion de projet : Planification et coordination des tâches.</a:t>
            </a:r>
            <a:endParaRPr sz="2100">
              <a:solidFill>
                <a:schemeClr val="dk1"/>
              </a:solidFill>
              <a:latin typeface="Calibri"/>
              <a:ea typeface="Calibri"/>
              <a:cs typeface="Calibri"/>
              <a:sym typeface="Calibri"/>
            </a:endParaRPr>
          </a:p>
          <a:p>
            <a:pPr indent="0" lvl="0" marL="0" rtl="0" algn="l">
              <a:spcBef>
                <a:spcPts val="0"/>
              </a:spcBef>
              <a:spcAft>
                <a:spcPts val="1200"/>
              </a:spcAft>
              <a:buNone/>
            </a:pPr>
            <a:r>
              <a:t/>
            </a:r>
            <a:endParaRPr>
              <a:latin typeface="Calibri"/>
              <a:ea typeface="Calibri"/>
              <a:cs typeface="Calibri"/>
              <a:sym typeface="Calibri"/>
            </a:endParaRPr>
          </a:p>
        </p:txBody>
      </p:sp>
      <p:sp>
        <p:nvSpPr>
          <p:cNvPr id="227" name="Google Shape;227;p3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Améliorations possibles </a:t>
            </a:r>
            <a:endParaRPr b="1">
              <a:latin typeface="Montserrat"/>
              <a:ea typeface="Montserrat"/>
              <a:cs typeface="Montserrat"/>
              <a:sym typeface="Montserrat"/>
            </a:endParaRPr>
          </a:p>
        </p:txBody>
      </p:sp>
      <p:sp>
        <p:nvSpPr>
          <p:cNvPr id="233" name="Google Shape;233;p33"/>
          <p:cNvSpPr txBox="1"/>
          <p:nvPr>
            <p:ph idx="1" type="body"/>
          </p:nvPr>
        </p:nvSpPr>
        <p:spPr>
          <a:xfrm>
            <a:off x="0" y="1017725"/>
            <a:ext cx="8520600" cy="3416400"/>
          </a:xfrm>
          <a:prstGeom prst="rect">
            <a:avLst/>
          </a:prstGeom>
          <a:solidFill>
            <a:schemeClr val="lt1"/>
          </a:solidFill>
        </p:spPr>
        <p:txBody>
          <a:bodyPr anchorCtr="0" anchor="t" bIns="91425" lIns="91425" spcFirstLastPara="1" rIns="91425" wrap="square" tIns="91425">
            <a:normAutofit/>
          </a:bodyPr>
          <a:lstStyle/>
          <a:p>
            <a:pPr indent="0" lvl="0" marL="0" rtl="0" algn="l">
              <a:spcBef>
                <a:spcPts val="0"/>
              </a:spcBef>
              <a:spcAft>
                <a:spcPts val="0"/>
              </a:spcAft>
              <a:buNone/>
            </a:pPr>
            <a:r>
              <a:t/>
            </a:r>
            <a:endParaRPr u="sng">
              <a:solidFill>
                <a:schemeClr val="dk1"/>
              </a:solidFill>
              <a:latin typeface="Calibri"/>
              <a:ea typeface="Calibri"/>
              <a:cs typeface="Calibri"/>
              <a:sym typeface="Calibri"/>
            </a:endParaRPr>
          </a:p>
          <a:p>
            <a:pPr indent="0" lvl="0" marL="180000" rtl="0" algn="l">
              <a:spcBef>
                <a:spcPts val="1200"/>
              </a:spcBef>
              <a:spcAft>
                <a:spcPts val="0"/>
              </a:spcAft>
              <a:buNone/>
            </a:pPr>
            <a:r>
              <a:rPr lang="fr" u="sng">
                <a:solidFill>
                  <a:schemeClr val="dk1"/>
                </a:solidFill>
                <a:latin typeface="Calibri"/>
                <a:ea typeface="Calibri"/>
                <a:cs typeface="Calibri"/>
                <a:sym typeface="Calibri"/>
              </a:rPr>
              <a:t>Solution des VLAN avec </a:t>
            </a:r>
            <a:r>
              <a:rPr lang="fr" u="sng">
                <a:solidFill>
                  <a:schemeClr val="dk1"/>
                </a:solidFill>
                <a:latin typeface="Calibri"/>
                <a:ea typeface="Calibri"/>
                <a:cs typeface="Calibri"/>
                <a:sym typeface="Calibri"/>
              </a:rPr>
              <a:t>contrôleur</a:t>
            </a:r>
            <a:r>
              <a:rPr lang="fr" u="sng">
                <a:solidFill>
                  <a:schemeClr val="dk1"/>
                </a:solidFill>
                <a:latin typeface="Calibri"/>
                <a:ea typeface="Calibri"/>
                <a:cs typeface="Calibri"/>
                <a:sym typeface="Calibri"/>
              </a:rPr>
              <a:t> WIFI</a:t>
            </a:r>
            <a:r>
              <a:rPr lang="fr">
                <a:solidFill>
                  <a:schemeClr val="dk1"/>
                </a:solidFill>
                <a:latin typeface="Calibri"/>
                <a:ea typeface="Calibri"/>
                <a:cs typeface="Calibri"/>
                <a:sym typeface="Calibri"/>
              </a:rPr>
              <a:t> : </a:t>
            </a:r>
            <a:r>
              <a:rPr lang="fr">
                <a:solidFill>
                  <a:schemeClr val="dk1"/>
                </a:solidFill>
                <a:latin typeface="Calibri"/>
                <a:ea typeface="Calibri"/>
                <a:cs typeface="Calibri"/>
                <a:sym typeface="Calibri"/>
              </a:rPr>
              <a:t>Sécurisation renforcée : Ajouter un firewall et des règles de filtrage plus strictes pour protéger les VLANs sensibles.</a:t>
            </a:r>
            <a:endParaRPr>
              <a:solidFill>
                <a:schemeClr val="dk1"/>
              </a:solidFill>
              <a:latin typeface="Calibri"/>
              <a:ea typeface="Calibri"/>
              <a:cs typeface="Calibri"/>
              <a:sym typeface="Calibri"/>
            </a:endParaRPr>
          </a:p>
          <a:p>
            <a:pPr indent="0" lvl="0" marL="180000" rtl="0" algn="l">
              <a:spcBef>
                <a:spcPts val="1200"/>
              </a:spcBef>
              <a:spcAft>
                <a:spcPts val="0"/>
              </a:spcAft>
              <a:buNone/>
            </a:pPr>
            <a:r>
              <a:t/>
            </a:r>
            <a:endParaRPr u="sng">
              <a:solidFill>
                <a:schemeClr val="dk1"/>
              </a:solidFill>
              <a:latin typeface="Calibri"/>
              <a:ea typeface="Calibri"/>
              <a:cs typeface="Calibri"/>
              <a:sym typeface="Calibri"/>
            </a:endParaRPr>
          </a:p>
          <a:p>
            <a:pPr indent="0" lvl="0" marL="180000" rtl="0" algn="l">
              <a:spcBef>
                <a:spcPts val="1200"/>
              </a:spcBef>
              <a:spcAft>
                <a:spcPts val="1200"/>
              </a:spcAft>
              <a:buNone/>
            </a:pPr>
            <a:r>
              <a:rPr lang="fr" u="sng">
                <a:solidFill>
                  <a:schemeClr val="dk1"/>
                </a:solidFill>
                <a:latin typeface="Calibri"/>
                <a:ea typeface="Calibri"/>
                <a:cs typeface="Calibri"/>
                <a:sym typeface="Calibri"/>
              </a:rPr>
              <a:t>Solution créer plusieurs SSID avec segmentation:</a:t>
            </a:r>
            <a:r>
              <a:rPr lang="fr">
                <a:solidFill>
                  <a:schemeClr val="dk1"/>
                </a:solidFill>
                <a:latin typeface="Calibri"/>
                <a:ea typeface="Calibri"/>
                <a:cs typeface="Calibri"/>
                <a:sym typeface="Calibri"/>
              </a:rPr>
              <a:t> </a:t>
            </a:r>
            <a:r>
              <a:rPr lang="fr">
                <a:solidFill>
                  <a:schemeClr val="dk1"/>
                </a:solidFill>
                <a:latin typeface="Calibri"/>
                <a:ea typeface="Calibri"/>
                <a:cs typeface="Calibri"/>
                <a:sym typeface="Calibri"/>
              </a:rPr>
              <a:t>réduire</a:t>
            </a:r>
            <a:r>
              <a:rPr lang="fr">
                <a:solidFill>
                  <a:schemeClr val="dk1"/>
                </a:solidFill>
                <a:latin typeface="Calibri"/>
                <a:ea typeface="Calibri"/>
                <a:cs typeface="Calibri"/>
                <a:sym typeface="Calibri"/>
              </a:rPr>
              <a:t> les interférences et améliorer la gestion des utilisateurs, tout en maintenant une séparation des accès.</a:t>
            </a:r>
            <a:endParaRPr u="sng">
              <a:solidFill>
                <a:schemeClr val="dk1"/>
              </a:solidFill>
              <a:latin typeface="Calibri"/>
              <a:ea typeface="Calibri"/>
              <a:cs typeface="Calibri"/>
              <a:sym typeface="Calibri"/>
            </a:endParaRPr>
          </a:p>
        </p:txBody>
      </p:sp>
      <p:sp>
        <p:nvSpPr>
          <p:cNvPr id="234" name="Google Shape;234;p3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latin typeface="Montserrat"/>
                <a:ea typeface="Montserrat"/>
                <a:cs typeface="Montserrat"/>
                <a:sym typeface="Montserrat"/>
              </a:rPr>
              <a:t>BILAN</a:t>
            </a:r>
            <a:endParaRPr b="1">
              <a:latin typeface="Montserrat"/>
              <a:ea typeface="Montserrat"/>
              <a:cs typeface="Montserrat"/>
              <a:sym typeface="Montserrat"/>
            </a:endParaRPr>
          </a:p>
        </p:txBody>
      </p:sp>
      <p:sp>
        <p:nvSpPr>
          <p:cNvPr id="240" name="Google Shape;240;p3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ctr">
              <a:spcBef>
                <a:spcPts val="800"/>
              </a:spcBef>
              <a:spcAft>
                <a:spcPts val="0"/>
              </a:spcAft>
              <a:buNone/>
            </a:pPr>
            <a:r>
              <a:rPr lang="fr" sz="1840">
                <a:solidFill>
                  <a:schemeClr val="dk1"/>
                </a:solidFill>
                <a:latin typeface="Calibri"/>
                <a:ea typeface="Calibri"/>
                <a:cs typeface="Calibri"/>
                <a:sym typeface="Calibri"/>
              </a:rPr>
              <a:t>Ces missions ont permis de tester diverses solutions réseau pour répondre aux besoins d'une structure en constante évolution. </a:t>
            </a:r>
            <a:endParaRPr sz="1840">
              <a:solidFill>
                <a:schemeClr val="dk1"/>
              </a:solidFill>
              <a:latin typeface="Calibri"/>
              <a:ea typeface="Calibri"/>
              <a:cs typeface="Calibri"/>
              <a:sym typeface="Calibri"/>
            </a:endParaRPr>
          </a:p>
          <a:p>
            <a:pPr indent="0" lvl="0" marL="0" rtl="0" algn="ctr">
              <a:spcBef>
                <a:spcPts val="800"/>
              </a:spcBef>
              <a:spcAft>
                <a:spcPts val="0"/>
              </a:spcAft>
              <a:buNone/>
            </a:pPr>
            <a:r>
              <a:t/>
            </a:r>
            <a:endParaRPr sz="1840">
              <a:solidFill>
                <a:schemeClr val="dk1"/>
              </a:solidFill>
              <a:latin typeface="Calibri"/>
              <a:ea typeface="Calibri"/>
              <a:cs typeface="Calibri"/>
              <a:sym typeface="Calibri"/>
            </a:endParaRPr>
          </a:p>
          <a:p>
            <a:pPr indent="0" lvl="0" marL="0" rtl="0" algn="ctr">
              <a:spcBef>
                <a:spcPts val="800"/>
              </a:spcBef>
              <a:spcAft>
                <a:spcPts val="0"/>
              </a:spcAft>
              <a:buClr>
                <a:schemeClr val="dk1"/>
              </a:buClr>
              <a:buSzPts val="1100"/>
              <a:buFont typeface="Arial"/>
              <a:buNone/>
            </a:pPr>
            <a:r>
              <a:rPr lang="fr" sz="1840">
                <a:solidFill>
                  <a:schemeClr val="dk1"/>
                </a:solidFill>
                <a:latin typeface="Calibri"/>
                <a:ea typeface="Calibri"/>
                <a:cs typeface="Calibri"/>
                <a:sym typeface="Calibri"/>
              </a:rPr>
              <a:t>La simulation dans Cisco Packet Tracer a été un outil précieux pour anticiper et résoudre les défis techniques avant le déploiement.</a:t>
            </a:r>
            <a:endParaRPr sz="5300">
              <a:latin typeface="Oswald Medium"/>
              <a:ea typeface="Oswald Medium"/>
              <a:cs typeface="Oswald Medium"/>
              <a:sym typeface="Oswald Medium"/>
            </a:endParaRPr>
          </a:p>
        </p:txBody>
      </p:sp>
      <p:sp>
        <p:nvSpPr>
          <p:cNvPr id="241" name="Google Shape;241;p3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5"/>
          <p:cNvSpPr txBox="1"/>
          <p:nvPr>
            <p:ph idx="1" type="body"/>
          </p:nvPr>
        </p:nvSpPr>
        <p:spPr>
          <a:xfrm>
            <a:off x="311700" y="902250"/>
            <a:ext cx="8520600" cy="3339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sz="5300">
              <a:latin typeface="Oswald Medium"/>
              <a:ea typeface="Oswald Medium"/>
              <a:cs typeface="Oswald Medium"/>
              <a:sym typeface="Oswald Medium"/>
            </a:endParaRPr>
          </a:p>
          <a:p>
            <a:pPr indent="0" lvl="0" marL="0" rtl="0" algn="ctr">
              <a:spcBef>
                <a:spcPts val="1200"/>
              </a:spcBef>
              <a:spcAft>
                <a:spcPts val="1200"/>
              </a:spcAft>
              <a:buNone/>
            </a:pPr>
            <a:r>
              <a:rPr lang="fr" sz="5300">
                <a:latin typeface="Oswald Medium"/>
                <a:ea typeface="Oswald Medium"/>
                <a:cs typeface="Oswald Medium"/>
                <a:sym typeface="Oswald Medium"/>
              </a:rPr>
              <a:t>FIN</a:t>
            </a:r>
            <a:endParaRPr/>
          </a:p>
        </p:txBody>
      </p:sp>
      <p:sp>
        <p:nvSpPr>
          <p:cNvPr id="247" name="Google Shape;247;p3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